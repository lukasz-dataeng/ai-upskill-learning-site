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8" r:id="rId3"/>
    <p:sldId id="259"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3141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top row then bottom row. I type one title. A cheap Planner model proposes sections and questions, and the pipeline stops: I read the plan and can edit it before anything else is spent. Then each answer is written by one model and checked by a different one, with one rewrite if rejected. The existing quiz agents add a multiple-choice question per card, the site is built, and I can run the mock interview on the new deck locally. Second stop: I read the content and the cost report before approving. Only then is it committed and deployed. Why two stops: in the test run on Python Decorators the Reviewer passed two terminology slips that I caught by reading at stop 2. Models were chosen per agent, cheapest first, by a spot check recorded in the spec.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pipeline, the same models and the same two stops as the previous slide. The difference is who types. The plan, the answers and the quiz are still generated by the DIAL models; Claude Code runs the command, summarises, and relays the stops. Two exceptions worth knowing: if I ask it to reword a question or fix an answer, that edit is Claude's own text, not DIAL's, and its work is not counted in the DIAL cost report. Instead of running the command and answering y at the prompts, I ask Claude Code in plain language. The publish-content skill tells it to run the pipeline, stop, and bring the plan back to me as a summary. Only when I say go on does it continue, with the approve flag for that one stop. At the second stop it also reads the answers itself and flags anything it doubts, on top of the Reviewer model. It publishes only after I explicitly say so. The rule at the bottom is written into the skill: the stops are my review, not the assistant's. The same skill also handles decks I already have answers for, and re-deploys after code changes.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0"/>
        </a:solidFill>
        <a:effectLst/>
      </p:bgPr>
    </p:bg>
    <p:spTree>
      <p:nvGrpSpPr>
        <p:cNvPr id="1" name=""/>
        <p:cNvGrpSpPr/>
        <p:nvPr/>
      </p:nvGrpSpPr>
      <p:grpSpPr>
        <a:xfrm>
          <a:off x="0" y="0"/>
          <a:ext cx="0" cy="0"/>
          <a:chOff x="0" y="0"/>
          <a:chExt cx="0" cy="0"/>
        </a:xfrm>
      </p:grpSpPr>
      <p:sp>
        <p:nvSpPr>
          <p:cNvPr id="2" name="Shape 0"/>
          <p:cNvSpPr/>
          <p:nvPr/>
        </p:nvSpPr>
        <p:spPr>
          <a:xfrm>
            <a:off x="0" y="857250"/>
            <a:ext cx="12161520" cy="0"/>
          </a:xfrm>
          <a:prstGeom prst="line">
            <a:avLst/>
          </a:prstGeom>
          <a:noFill/>
          <a:ln w="3810">
            <a:solidFill>
              <a:srgbClr val="E9E7E0"/>
            </a:solidFill>
            <a:prstDash val="solid"/>
          </a:ln>
        </p:spPr>
        <p:txBody>
          <a:bodyPr/>
          <a:lstStyle/>
          <a:p>
            <a:endParaRPr lang="en-US"/>
          </a:p>
        </p:txBody>
      </p:sp>
      <p:sp>
        <p:nvSpPr>
          <p:cNvPr id="3" name="Shape 1"/>
          <p:cNvSpPr/>
          <p:nvPr/>
        </p:nvSpPr>
        <p:spPr>
          <a:xfrm>
            <a:off x="0" y="1714500"/>
            <a:ext cx="12161520" cy="0"/>
          </a:xfrm>
          <a:prstGeom prst="line">
            <a:avLst/>
          </a:prstGeom>
          <a:noFill/>
          <a:ln w="3810">
            <a:solidFill>
              <a:srgbClr val="E9E7E0"/>
            </a:solidFill>
            <a:prstDash val="solid"/>
          </a:ln>
        </p:spPr>
        <p:txBody>
          <a:bodyPr/>
          <a:lstStyle/>
          <a:p>
            <a:endParaRPr lang="en-US"/>
          </a:p>
        </p:txBody>
      </p:sp>
      <p:sp>
        <p:nvSpPr>
          <p:cNvPr id="4" name="Shape 2"/>
          <p:cNvSpPr/>
          <p:nvPr/>
        </p:nvSpPr>
        <p:spPr>
          <a:xfrm>
            <a:off x="0" y="2571750"/>
            <a:ext cx="12161520" cy="0"/>
          </a:xfrm>
          <a:prstGeom prst="line">
            <a:avLst/>
          </a:prstGeom>
          <a:noFill/>
          <a:ln w="3810">
            <a:solidFill>
              <a:srgbClr val="E9E7E0"/>
            </a:solidFill>
            <a:prstDash val="solid"/>
          </a:ln>
        </p:spPr>
        <p:txBody>
          <a:bodyPr/>
          <a:lstStyle/>
          <a:p>
            <a:endParaRPr lang="en-US"/>
          </a:p>
        </p:txBody>
      </p:sp>
      <p:sp>
        <p:nvSpPr>
          <p:cNvPr id="5" name="Shape 3"/>
          <p:cNvSpPr/>
          <p:nvPr/>
        </p:nvSpPr>
        <p:spPr>
          <a:xfrm>
            <a:off x="0" y="3429000"/>
            <a:ext cx="12161520" cy="0"/>
          </a:xfrm>
          <a:prstGeom prst="line">
            <a:avLst/>
          </a:prstGeom>
          <a:noFill/>
          <a:ln w="3810">
            <a:solidFill>
              <a:srgbClr val="E9E7E0"/>
            </a:solidFill>
            <a:prstDash val="solid"/>
          </a:ln>
        </p:spPr>
        <p:txBody>
          <a:bodyPr/>
          <a:lstStyle/>
          <a:p>
            <a:endParaRPr lang="en-US"/>
          </a:p>
        </p:txBody>
      </p:sp>
      <p:sp>
        <p:nvSpPr>
          <p:cNvPr id="6" name="Shape 4"/>
          <p:cNvSpPr/>
          <p:nvPr/>
        </p:nvSpPr>
        <p:spPr>
          <a:xfrm>
            <a:off x="0" y="4286250"/>
            <a:ext cx="12161520" cy="0"/>
          </a:xfrm>
          <a:prstGeom prst="line">
            <a:avLst/>
          </a:prstGeom>
          <a:noFill/>
          <a:ln w="3810">
            <a:solidFill>
              <a:srgbClr val="E9E7E0"/>
            </a:solidFill>
            <a:prstDash val="solid"/>
          </a:ln>
        </p:spPr>
        <p:txBody>
          <a:bodyPr/>
          <a:lstStyle/>
          <a:p>
            <a:endParaRPr lang="en-US"/>
          </a:p>
        </p:txBody>
      </p:sp>
      <p:sp>
        <p:nvSpPr>
          <p:cNvPr id="7" name="Shape 5"/>
          <p:cNvSpPr/>
          <p:nvPr/>
        </p:nvSpPr>
        <p:spPr>
          <a:xfrm>
            <a:off x="0" y="5143500"/>
            <a:ext cx="12161520" cy="0"/>
          </a:xfrm>
          <a:prstGeom prst="line">
            <a:avLst/>
          </a:prstGeom>
          <a:noFill/>
          <a:ln w="3810">
            <a:solidFill>
              <a:srgbClr val="E9E7E0"/>
            </a:solidFill>
            <a:prstDash val="solid"/>
          </a:ln>
        </p:spPr>
        <p:txBody>
          <a:bodyPr/>
          <a:lstStyle/>
          <a:p>
            <a:endParaRPr lang="en-US"/>
          </a:p>
        </p:txBody>
      </p:sp>
      <p:sp>
        <p:nvSpPr>
          <p:cNvPr id="8" name="Shape 6"/>
          <p:cNvSpPr/>
          <p:nvPr/>
        </p:nvSpPr>
        <p:spPr>
          <a:xfrm>
            <a:off x="0" y="6000750"/>
            <a:ext cx="12161520" cy="0"/>
          </a:xfrm>
          <a:prstGeom prst="line">
            <a:avLst/>
          </a:prstGeom>
          <a:noFill/>
          <a:ln w="3810">
            <a:solidFill>
              <a:srgbClr val="E9E7E0"/>
            </a:solidFill>
            <a:prstDash val="solid"/>
          </a:ln>
        </p:spPr>
        <p:txBody>
          <a:bodyPr/>
          <a:lstStyle/>
          <a:p>
            <a:endParaRPr lang="en-US"/>
          </a:p>
        </p:txBody>
      </p:sp>
      <p:sp>
        <p:nvSpPr>
          <p:cNvPr id="9" name="Shape 7"/>
          <p:cNvSpPr/>
          <p:nvPr/>
        </p:nvSpPr>
        <p:spPr>
          <a:xfrm>
            <a:off x="760095" y="0"/>
            <a:ext cx="0" cy="6858000"/>
          </a:xfrm>
          <a:prstGeom prst="line">
            <a:avLst/>
          </a:prstGeom>
          <a:noFill/>
          <a:ln w="3810">
            <a:solidFill>
              <a:srgbClr val="E9E7E0"/>
            </a:solidFill>
            <a:prstDash val="solid"/>
          </a:ln>
        </p:spPr>
        <p:txBody>
          <a:bodyPr/>
          <a:lstStyle/>
          <a:p>
            <a:endParaRPr lang="en-US"/>
          </a:p>
        </p:txBody>
      </p:sp>
      <p:sp>
        <p:nvSpPr>
          <p:cNvPr id="10" name="Shape 8"/>
          <p:cNvSpPr/>
          <p:nvPr/>
        </p:nvSpPr>
        <p:spPr>
          <a:xfrm>
            <a:off x="1520190" y="0"/>
            <a:ext cx="0" cy="6858000"/>
          </a:xfrm>
          <a:prstGeom prst="line">
            <a:avLst/>
          </a:prstGeom>
          <a:noFill/>
          <a:ln w="3810">
            <a:solidFill>
              <a:srgbClr val="E9E7E0"/>
            </a:solidFill>
            <a:prstDash val="solid"/>
          </a:ln>
        </p:spPr>
        <p:txBody>
          <a:bodyPr/>
          <a:lstStyle/>
          <a:p>
            <a:endParaRPr lang="en-US"/>
          </a:p>
        </p:txBody>
      </p:sp>
      <p:sp>
        <p:nvSpPr>
          <p:cNvPr id="11" name="Shape 9"/>
          <p:cNvSpPr/>
          <p:nvPr/>
        </p:nvSpPr>
        <p:spPr>
          <a:xfrm>
            <a:off x="2280285" y="0"/>
            <a:ext cx="0" cy="6858000"/>
          </a:xfrm>
          <a:prstGeom prst="line">
            <a:avLst/>
          </a:prstGeom>
          <a:noFill/>
          <a:ln w="3810">
            <a:solidFill>
              <a:srgbClr val="E9E7E0"/>
            </a:solidFill>
            <a:prstDash val="solid"/>
          </a:ln>
        </p:spPr>
        <p:txBody>
          <a:bodyPr/>
          <a:lstStyle/>
          <a:p>
            <a:endParaRPr lang="en-US"/>
          </a:p>
        </p:txBody>
      </p:sp>
      <p:sp>
        <p:nvSpPr>
          <p:cNvPr id="12" name="Shape 10"/>
          <p:cNvSpPr/>
          <p:nvPr/>
        </p:nvSpPr>
        <p:spPr>
          <a:xfrm>
            <a:off x="3040380" y="0"/>
            <a:ext cx="0" cy="6858000"/>
          </a:xfrm>
          <a:prstGeom prst="line">
            <a:avLst/>
          </a:prstGeom>
          <a:noFill/>
          <a:ln w="3810">
            <a:solidFill>
              <a:srgbClr val="E9E7E0"/>
            </a:solidFill>
            <a:prstDash val="solid"/>
          </a:ln>
        </p:spPr>
        <p:txBody>
          <a:bodyPr/>
          <a:lstStyle/>
          <a:p>
            <a:endParaRPr lang="en-US"/>
          </a:p>
        </p:txBody>
      </p:sp>
      <p:sp>
        <p:nvSpPr>
          <p:cNvPr id="13" name="Shape 11"/>
          <p:cNvSpPr/>
          <p:nvPr/>
        </p:nvSpPr>
        <p:spPr>
          <a:xfrm>
            <a:off x="3800475" y="0"/>
            <a:ext cx="0" cy="6858000"/>
          </a:xfrm>
          <a:prstGeom prst="line">
            <a:avLst/>
          </a:prstGeom>
          <a:noFill/>
          <a:ln w="3810">
            <a:solidFill>
              <a:srgbClr val="E9E7E0"/>
            </a:solidFill>
            <a:prstDash val="solid"/>
          </a:ln>
        </p:spPr>
        <p:txBody>
          <a:bodyPr/>
          <a:lstStyle/>
          <a:p>
            <a:endParaRPr lang="en-US"/>
          </a:p>
        </p:txBody>
      </p:sp>
      <p:sp>
        <p:nvSpPr>
          <p:cNvPr id="14" name="Shape 12"/>
          <p:cNvSpPr/>
          <p:nvPr/>
        </p:nvSpPr>
        <p:spPr>
          <a:xfrm>
            <a:off x="4560570" y="0"/>
            <a:ext cx="0" cy="6858000"/>
          </a:xfrm>
          <a:prstGeom prst="line">
            <a:avLst/>
          </a:prstGeom>
          <a:noFill/>
          <a:ln w="3810">
            <a:solidFill>
              <a:srgbClr val="E9E7E0"/>
            </a:solidFill>
            <a:prstDash val="solid"/>
          </a:ln>
        </p:spPr>
        <p:txBody>
          <a:bodyPr/>
          <a:lstStyle/>
          <a:p>
            <a:endParaRPr lang="en-US"/>
          </a:p>
        </p:txBody>
      </p:sp>
      <p:sp>
        <p:nvSpPr>
          <p:cNvPr id="15" name="Shape 13"/>
          <p:cNvSpPr/>
          <p:nvPr/>
        </p:nvSpPr>
        <p:spPr>
          <a:xfrm>
            <a:off x="5320665" y="0"/>
            <a:ext cx="0" cy="6858000"/>
          </a:xfrm>
          <a:prstGeom prst="line">
            <a:avLst/>
          </a:prstGeom>
          <a:noFill/>
          <a:ln w="3810">
            <a:solidFill>
              <a:srgbClr val="E9E7E0"/>
            </a:solidFill>
            <a:prstDash val="solid"/>
          </a:ln>
        </p:spPr>
        <p:txBody>
          <a:bodyPr/>
          <a:lstStyle/>
          <a:p>
            <a:endParaRPr lang="en-US"/>
          </a:p>
        </p:txBody>
      </p:sp>
      <p:sp>
        <p:nvSpPr>
          <p:cNvPr id="16" name="Shape 14"/>
          <p:cNvSpPr/>
          <p:nvPr/>
        </p:nvSpPr>
        <p:spPr>
          <a:xfrm>
            <a:off x="6080760" y="0"/>
            <a:ext cx="0" cy="6858000"/>
          </a:xfrm>
          <a:prstGeom prst="line">
            <a:avLst/>
          </a:prstGeom>
          <a:noFill/>
          <a:ln w="3810">
            <a:solidFill>
              <a:srgbClr val="E9E7E0"/>
            </a:solidFill>
            <a:prstDash val="solid"/>
          </a:ln>
        </p:spPr>
        <p:txBody>
          <a:bodyPr/>
          <a:lstStyle/>
          <a:p>
            <a:endParaRPr lang="en-US"/>
          </a:p>
        </p:txBody>
      </p:sp>
      <p:sp>
        <p:nvSpPr>
          <p:cNvPr id="17" name="Shape 15"/>
          <p:cNvSpPr/>
          <p:nvPr/>
        </p:nvSpPr>
        <p:spPr>
          <a:xfrm>
            <a:off x="6840855" y="0"/>
            <a:ext cx="0" cy="6858000"/>
          </a:xfrm>
          <a:prstGeom prst="line">
            <a:avLst/>
          </a:prstGeom>
          <a:noFill/>
          <a:ln w="3810">
            <a:solidFill>
              <a:srgbClr val="E9E7E0"/>
            </a:solidFill>
            <a:prstDash val="solid"/>
          </a:ln>
        </p:spPr>
        <p:txBody>
          <a:bodyPr/>
          <a:lstStyle/>
          <a:p>
            <a:endParaRPr lang="en-US"/>
          </a:p>
        </p:txBody>
      </p:sp>
      <p:sp>
        <p:nvSpPr>
          <p:cNvPr id="18" name="Shape 16"/>
          <p:cNvSpPr/>
          <p:nvPr/>
        </p:nvSpPr>
        <p:spPr>
          <a:xfrm>
            <a:off x="7600950" y="0"/>
            <a:ext cx="0" cy="6858000"/>
          </a:xfrm>
          <a:prstGeom prst="line">
            <a:avLst/>
          </a:prstGeom>
          <a:noFill/>
          <a:ln w="3810">
            <a:solidFill>
              <a:srgbClr val="E9E7E0"/>
            </a:solidFill>
            <a:prstDash val="solid"/>
          </a:ln>
        </p:spPr>
        <p:txBody>
          <a:bodyPr/>
          <a:lstStyle/>
          <a:p>
            <a:endParaRPr lang="en-US"/>
          </a:p>
        </p:txBody>
      </p:sp>
      <p:sp>
        <p:nvSpPr>
          <p:cNvPr id="19" name="Shape 17"/>
          <p:cNvSpPr/>
          <p:nvPr/>
        </p:nvSpPr>
        <p:spPr>
          <a:xfrm>
            <a:off x="8361045" y="0"/>
            <a:ext cx="0" cy="6858000"/>
          </a:xfrm>
          <a:prstGeom prst="line">
            <a:avLst/>
          </a:prstGeom>
          <a:noFill/>
          <a:ln w="3810">
            <a:solidFill>
              <a:srgbClr val="E9E7E0"/>
            </a:solidFill>
            <a:prstDash val="solid"/>
          </a:ln>
        </p:spPr>
        <p:txBody>
          <a:bodyPr/>
          <a:lstStyle/>
          <a:p>
            <a:endParaRPr lang="en-US"/>
          </a:p>
        </p:txBody>
      </p:sp>
      <p:sp>
        <p:nvSpPr>
          <p:cNvPr id="20" name="Shape 18"/>
          <p:cNvSpPr/>
          <p:nvPr/>
        </p:nvSpPr>
        <p:spPr>
          <a:xfrm>
            <a:off x="9121140" y="0"/>
            <a:ext cx="0" cy="6858000"/>
          </a:xfrm>
          <a:prstGeom prst="line">
            <a:avLst/>
          </a:prstGeom>
          <a:noFill/>
          <a:ln w="3810">
            <a:solidFill>
              <a:srgbClr val="E9E7E0"/>
            </a:solidFill>
            <a:prstDash val="solid"/>
          </a:ln>
        </p:spPr>
        <p:txBody>
          <a:bodyPr/>
          <a:lstStyle/>
          <a:p>
            <a:endParaRPr lang="en-US"/>
          </a:p>
        </p:txBody>
      </p:sp>
      <p:sp>
        <p:nvSpPr>
          <p:cNvPr id="21" name="Shape 19"/>
          <p:cNvSpPr/>
          <p:nvPr/>
        </p:nvSpPr>
        <p:spPr>
          <a:xfrm>
            <a:off x="9881235" y="0"/>
            <a:ext cx="0" cy="6858000"/>
          </a:xfrm>
          <a:prstGeom prst="line">
            <a:avLst/>
          </a:prstGeom>
          <a:noFill/>
          <a:ln w="3810">
            <a:solidFill>
              <a:srgbClr val="E9E7E0"/>
            </a:solidFill>
            <a:prstDash val="solid"/>
          </a:ln>
        </p:spPr>
        <p:txBody>
          <a:bodyPr/>
          <a:lstStyle/>
          <a:p>
            <a:endParaRPr lang="en-US"/>
          </a:p>
        </p:txBody>
      </p:sp>
      <p:sp>
        <p:nvSpPr>
          <p:cNvPr id="22" name="Shape 20"/>
          <p:cNvSpPr/>
          <p:nvPr/>
        </p:nvSpPr>
        <p:spPr>
          <a:xfrm>
            <a:off x="10641330" y="0"/>
            <a:ext cx="0" cy="6858000"/>
          </a:xfrm>
          <a:prstGeom prst="line">
            <a:avLst/>
          </a:prstGeom>
          <a:noFill/>
          <a:ln w="3810">
            <a:solidFill>
              <a:srgbClr val="E9E7E0"/>
            </a:solidFill>
            <a:prstDash val="solid"/>
          </a:ln>
        </p:spPr>
        <p:txBody>
          <a:bodyPr/>
          <a:lstStyle/>
          <a:p>
            <a:endParaRPr lang="en-US"/>
          </a:p>
        </p:txBody>
      </p:sp>
      <p:sp>
        <p:nvSpPr>
          <p:cNvPr id="23" name="Shape 21"/>
          <p:cNvSpPr/>
          <p:nvPr/>
        </p:nvSpPr>
        <p:spPr>
          <a:xfrm>
            <a:off x="11401425" y="0"/>
            <a:ext cx="0" cy="6858000"/>
          </a:xfrm>
          <a:prstGeom prst="line">
            <a:avLst/>
          </a:prstGeom>
          <a:noFill/>
          <a:ln w="3810">
            <a:solidFill>
              <a:srgbClr val="E9E7E0"/>
            </a:solidFill>
            <a:prstDash val="solid"/>
          </a:ln>
        </p:spPr>
        <p:txBody>
          <a:bodyPr/>
          <a:lstStyle/>
          <a:p>
            <a:endParaRPr lang="en-US"/>
          </a:p>
        </p:txBody>
      </p:sp>
      <p:sp>
        <p:nvSpPr>
          <p:cNvPr id="24" name="Shape 22"/>
          <p:cNvSpPr/>
          <p:nvPr/>
        </p:nvSpPr>
        <p:spPr>
          <a:xfrm>
            <a:off x="0" y="0"/>
            <a:ext cx="12161520" cy="32004"/>
          </a:xfrm>
          <a:prstGeom prst="rect">
            <a:avLst/>
          </a:prstGeom>
          <a:solidFill>
            <a:srgbClr val="3F45C4"/>
          </a:solidFill>
          <a:ln w="12700">
            <a:solidFill>
              <a:srgbClr val="3F45C4"/>
            </a:solidFill>
            <a:prstDash val="solid"/>
          </a:ln>
        </p:spPr>
        <p:txBody>
          <a:bodyPr/>
          <a:lstStyle/>
          <a:p>
            <a:endParaRPr lang="en-US"/>
          </a:p>
        </p:txBody>
      </p:sp>
      <p:sp>
        <p:nvSpPr>
          <p:cNvPr id="25" name="Shape 23"/>
          <p:cNvSpPr/>
          <p:nvPr/>
        </p:nvSpPr>
        <p:spPr>
          <a:xfrm>
            <a:off x="0" y="32004"/>
            <a:ext cx="12161520" cy="1005840"/>
          </a:xfrm>
          <a:prstGeom prst="rect">
            <a:avLst/>
          </a:prstGeom>
          <a:solidFill>
            <a:srgbClr val="1B2233"/>
          </a:solidFill>
          <a:ln w="6350">
            <a:solidFill>
              <a:srgbClr val="1B2233"/>
            </a:solidFill>
            <a:prstDash val="solid"/>
          </a:ln>
        </p:spPr>
        <p:txBody>
          <a:bodyPr/>
          <a:lstStyle/>
          <a:p>
            <a:endParaRPr lang="en-US"/>
          </a:p>
        </p:txBody>
      </p:sp>
      <p:sp>
        <p:nvSpPr>
          <p:cNvPr id="26" name="Shape 24"/>
          <p:cNvSpPr/>
          <p:nvPr/>
        </p:nvSpPr>
        <p:spPr>
          <a:xfrm>
            <a:off x="201168" y="201168"/>
            <a:ext cx="2011680" cy="292608"/>
          </a:xfrm>
          <a:prstGeom prst="rect">
            <a:avLst/>
          </a:prstGeom>
          <a:solidFill>
            <a:srgbClr val="2A3450"/>
          </a:solidFill>
          <a:ln w="7620">
            <a:solidFill>
              <a:srgbClr val="5E6780"/>
            </a:solidFill>
            <a:prstDash val="solid"/>
          </a:ln>
        </p:spPr>
        <p:txBody>
          <a:bodyPr/>
          <a:lstStyle/>
          <a:p>
            <a:endParaRPr lang="en-US"/>
          </a:p>
        </p:txBody>
      </p:sp>
      <p:sp>
        <p:nvSpPr>
          <p:cNvPr id="27" name="Text 25"/>
          <p:cNvSpPr/>
          <p:nvPr/>
        </p:nvSpPr>
        <p:spPr>
          <a:xfrm>
            <a:off x="201168" y="201168"/>
            <a:ext cx="2011680" cy="292608"/>
          </a:xfrm>
          <a:prstGeom prst="rect">
            <a:avLst/>
          </a:prstGeom>
          <a:noFill/>
          <a:ln/>
        </p:spPr>
        <p:txBody>
          <a:bodyPr wrap="square" lIns="0" tIns="0" rIns="0" bIns="0" rtlCol="0" anchor="ctr"/>
          <a:lstStyle/>
          <a:p>
            <a:pPr marL="0" indent="0" algn="ctr">
              <a:buNone/>
            </a:pPr>
            <a:r>
              <a:rPr lang="en-US" sz="750" kern="0" spc="200" dirty="0">
                <a:solidFill>
                  <a:srgbClr val="AEB4F5"/>
                </a:solidFill>
              </a:rPr>
              <a:t>AI UPSKILL · SEPT 2026</a:t>
            </a:r>
            <a:endParaRPr lang="en-US" sz="750" dirty="0"/>
          </a:p>
        </p:txBody>
      </p:sp>
      <p:sp>
        <p:nvSpPr>
          <p:cNvPr id="28" name="Text 26"/>
          <p:cNvSpPr/>
          <p:nvPr/>
        </p:nvSpPr>
        <p:spPr>
          <a:xfrm>
            <a:off x="201168" y="530352"/>
            <a:ext cx="8686800" cy="475488"/>
          </a:xfrm>
          <a:prstGeom prst="rect">
            <a:avLst/>
          </a:prstGeom>
          <a:noFill/>
          <a:ln/>
        </p:spPr>
        <p:txBody>
          <a:bodyPr wrap="square" lIns="0" tIns="0" rIns="0" bIns="0" rtlCol="0" anchor="ctr"/>
          <a:lstStyle/>
          <a:p>
            <a:pPr marL="0" indent="0" algn="l">
              <a:buNone/>
            </a:pPr>
            <a:r>
              <a:rPr lang="en-US" sz="2200" b="1" dirty="0">
                <a:solidFill>
                  <a:srgbClr val="F6F5F0"/>
                </a:solidFill>
                <a:latin typeface="Calibri" pitchFamily="34" charset="0"/>
                <a:ea typeface="Calibri" pitchFamily="34" charset="-122"/>
                <a:cs typeface="Calibri" pitchFamily="34" charset="-120"/>
              </a:rPr>
              <a:t>LEARNING SITE, QUIZ AND MOCK INTERVIEW</a:t>
            </a:r>
            <a:endParaRPr lang="en-US" sz="2200" dirty="0"/>
          </a:p>
        </p:txBody>
      </p:sp>
      <p:sp>
        <p:nvSpPr>
          <p:cNvPr id="29" name="Shape 27"/>
          <p:cNvSpPr/>
          <p:nvPr/>
        </p:nvSpPr>
        <p:spPr>
          <a:xfrm>
            <a:off x="9692640" y="274320"/>
            <a:ext cx="2286000" cy="475488"/>
          </a:xfrm>
          <a:prstGeom prst="rect">
            <a:avLst/>
          </a:prstGeom>
          <a:solidFill>
            <a:srgbClr val="2A3450"/>
          </a:solidFill>
          <a:ln w="10160">
            <a:solidFill>
              <a:srgbClr val="1B2233"/>
            </a:solidFill>
            <a:prstDash val="solid"/>
          </a:ln>
        </p:spPr>
        <p:txBody>
          <a:bodyPr/>
          <a:lstStyle/>
          <a:p>
            <a:endParaRPr lang="en-US"/>
          </a:p>
        </p:txBody>
      </p:sp>
      <p:sp>
        <p:nvSpPr>
          <p:cNvPr id="30" name="Text 28"/>
          <p:cNvSpPr/>
          <p:nvPr/>
        </p:nvSpPr>
        <p:spPr>
          <a:xfrm>
            <a:off x="9692640" y="274320"/>
            <a:ext cx="2286000" cy="475488"/>
          </a:xfrm>
          <a:prstGeom prst="rect">
            <a:avLst/>
          </a:prstGeom>
          <a:noFill/>
          <a:ln/>
        </p:spPr>
        <p:txBody>
          <a:bodyPr wrap="square" lIns="0" tIns="0" rIns="0" bIns="0" rtlCol="0" anchor="ctr"/>
          <a:lstStyle/>
          <a:p>
            <a:pPr marL="0" indent="0" algn="ctr">
              <a:buNone/>
            </a:pPr>
            <a:r>
              <a:rPr lang="en-US" sz="800" kern="0" spc="150" dirty="0">
                <a:solidFill>
                  <a:srgbClr val="AEB4F5"/>
                </a:solidFill>
              </a:rPr>
              <a:t>3-WEEK INITIATIVE</a:t>
            </a:r>
            <a:endParaRPr lang="en-US" sz="800" dirty="0"/>
          </a:p>
        </p:txBody>
      </p:sp>
      <p:sp>
        <p:nvSpPr>
          <p:cNvPr id="31" name="Shape 29"/>
          <p:cNvSpPr/>
          <p:nvPr/>
        </p:nvSpPr>
        <p:spPr>
          <a:xfrm>
            <a:off x="164592" y="1143000"/>
            <a:ext cx="3154680" cy="1645920"/>
          </a:xfrm>
          <a:prstGeom prst="rect">
            <a:avLst/>
          </a:prstGeom>
          <a:solidFill>
            <a:srgbClr val="FDFCF9"/>
          </a:solidFill>
          <a:ln w="8890">
            <a:solidFill>
              <a:srgbClr val="DDDAD0"/>
            </a:solidFill>
            <a:prstDash val="solid"/>
          </a:ln>
        </p:spPr>
        <p:txBody>
          <a:bodyPr/>
          <a:lstStyle/>
          <a:p>
            <a:endParaRPr lang="en-US"/>
          </a:p>
        </p:txBody>
      </p:sp>
      <p:sp>
        <p:nvSpPr>
          <p:cNvPr id="32" name="Text 30"/>
          <p:cNvSpPr/>
          <p:nvPr/>
        </p:nvSpPr>
        <p:spPr>
          <a:xfrm>
            <a:off x="301752" y="1271016"/>
            <a:ext cx="2880360" cy="201168"/>
          </a:xfrm>
          <a:prstGeom prst="rect">
            <a:avLst/>
          </a:prstGeom>
          <a:noFill/>
          <a:ln/>
        </p:spPr>
        <p:txBody>
          <a:bodyPr wrap="square" lIns="0" tIns="0" rIns="0" bIns="0" rtlCol="0" anchor="ctr"/>
          <a:lstStyle/>
          <a:p>
            <a:pPr marL="0" indent="0" algn="l">
              <a:buNone/>
            </a:pPr>
            <a:r>
              <a:rPr lang="en-US" sz="750" b="1" kern="0" spc="250" dirty="0">
                <a:solidFill>
                  <a:srgbClr val="3F45C4"/>
                </a:solidFill>
              </a:rPr>
              <a:t>TEAM</a:t>
            </a:r>
            <a:endParaRPr lang="en-US" sz="750" dirty="0"/>
          </a:p>
        </p:txBody>
      </p:sp>
      <p:sp>
        <p:nvSpPr>
          <p:cNvPr id="33" name="Shape 31"/>
          <p:cNvSpPr/>
          <p:nvPr/>
        </p:nvSpPr>
        <p:spPr>
          <a:xfrm>
            <a:off x="301752" y="1472184"/>
            <a:ext cx="548640" cy="0"/>
          </a:xfrm>
          <a:prstGeom prst="line">
            <a:avLst/>
          </a:prstGeom>
          <a:noFill/>
          <a:ln w="12700">
            <a:solidFill>
              <a:srgbClr val="3F45C4"/>
            </a:solidFill>
            <a:prstDash val="solid"/>
          </a:ln>
        </p:spPr>
        <p:txBody>
          <a:bodyPr/>
          <a:lstStyle/>
          <a:p>
            <a:endParaRPr lang="en-US"/>
          </a:p>
        </p:txBody>
      </p:sp>
      <p:sp>
        <p:nvSpPr>
          <p:cNvPr id="34" name="Text 32"/>
          <p:cNvSpPr/>
          <p:nvPr/>
        </p:nvSpPr>
        <p:spPr>
          <a:xfrm>
            <a:off x="301752" y="1545336"/>
            <a:ext cx="2880360" cy="1188720"/>
          </a:xfrm>
          <a:prstGeom prst="rect">
            <a:avLst/>
          </a:prstGeom>
          <a:noFill/>
          <a:ln/>
        </p:spPr>
        <p:txBody>
          <a:bodyPr wrap="square" lIns="0" tIns="0" rIns="0" bIns="0" rtlCol="0" anchor="t"/>
          <a:lstStyle/>
          <a:p>
            <a:pPr marL="0" indent="0">
              <a:buNone/>
            </a:pPr>
            <a:r>
              <a:rPr lang="pl-PL" sz="1100" b="1" dirty="0">
                <a:solidFill>
                  <a:srgbClr val="1B2233"/>
                </a:solidFill>
              </a:rPr>
              <a:t>Łukasz Kwaśniewski</a:t>
            </a:r>
            <a:endParaRPr lang="en-US" sz="1100" dirty="0"/>
          </a:p>
          <a:p>
            <a:pPr marL="0" indent="0">
              <a:buNone/>
            </a:pPr>
            <a:r>
              <a:rPr lang="pl-PL" sz="850" dirty="0">
                <a:solidFill>
                  <a:srgbClr val="3F45C4"/>
                </a:solidFill>
              </a:rPr>
              <a:t>Student</a:t>
            </a:r>
            <a:endParaRPr lang="en-US" sz="1100" dirty="0"/>
          </a:p>
        </p:txBody>
      </p:sp>
      <p:sp>
        <p:nvSpPr>
          <p:cNvPr id="35" name="Shape 33"/>
          <p:cNvSpPr/>
          <p:nvPr/>
        </p:nvSpPr>
        <p:spPr>
          <a:xfrm>
            <a:off x="164592" y="2926080"/>
            <a:ext cx="3154680" cy="1783080"/>
          </a:xfrm>
          <a:prstGeom prst="rect">
            <a:avLst/>
          </a:prstGeom>
          <a:solidFill>
            <a:srgbClr val="FDFCF9"/>
          </a:solidFill>
          <a:ln w="8890">
            <a:solidFill>
              <a:srgbClr val="DDDAD0"/>
            </a:solidFill>
            <a:prstDash val="solid"/>
          </a:ln>
        </p:spPr>
        <p:txBody>
          <a:bodyPr/>
          <a:lstStyle/>
          <a:p>
            <a:endParaRPr lang="en-US"/>
          </a:p>
        </p:txBody>
      </p:sp>
      <p:sp>
        <p:nvSpPr>
          <p:cNvPr id="36" name="Text 34"/>
          <p:cNvSpPr/>
          <p:nvPr/>
        </p:nvSpPr>
        <p:spPr>
          <a:xfrm>
            <a:off x="301752" y="3054096"/>
            <a:ext cx="2880360" cy="201168"/>
          </a:xfrm>
          <a:prstGeom prst="rect">
            <a:avLst/>
          </a:prstGeom>
          <a:noFill/>
          <a:ln/>
        </p:spPr>
        <p:txBody>
          <a:bodyPr wrap="square" lIns="0" tIns="0" rIns="0" bIns="0" rtlCol="0" anchor="ctr"/>
          <a:lstStyle/>
          <a:p>
            <a:pPr marL="0" indent="0" algn="l">
              <a:buNone/>
            </a:pPr>
            <a:r>
              <a:rPr lang="en-US" sz="750" b="1" kern="0" spc="250" dirty="0">
                <a:solidFill>
                  <a:srgbClr val="3F45C4"/>
                </a:solidFill>
              </a:rPr>
              <a:t>TECH STACK</a:t>
            </a:r>
            <a:endParaRPr lang="en-US" sz="750" dirty="0"/>
          </a:p>
        </p:txBody>
      </p:sp>
      <p:sp>
        <p:nvSpPr>
          <p:cNvPr id="37" name="Shape 35"/>
          <p:cNvSpPr/>
          <p:nvPr/>
        </p:nvSpPr>
        <p:spPr>
          <a:xfrm>
            <a:off x="301752" y="3255264"/>
            <a:ext cx="548640" cy="0"/>
          </a:xfrm>
          <a:prstGeom prst="line">
            <a:avLst/>
          </a:prstGeom>
          <a:noFill/>
          <a:ln w="12700">
            <a:solidFill>
              <a:srgbClr val="3F45C4"/>
            </a:solidFill>
            <a:prstDash val="solid"/>
          </a:ln>
        </p:spPr>
        <p:txBody>
          <a:bodyPr/>
          <a:lstStyle/>
          <a:p>
            <a:endParaRPr lang="en-US"/>
          </a:p>
        </p:txBody>
      </p:sp>
      <p:sp>
        <p:nvSpPr>
          <p:cNvPr id="38" name="Shape 36"/>
          <p:cNvSpPr/>
          <p:nvPr/>
        </p:nvSpPr>
        <p:spPr>
          <a:xfrm>
            <a:off x="283464" y="3346704"/>
            <a:ext cx="914400" cy="246888"/>
          </a:xfrm>
          <a:prstGeom prst="rect">
            <a:avLst/>
          </a:prstGeom>
          <a:solidFill>
            <a:srgbClr val="ECEEFA"/>
          </a:solidFill>
          <a:ln w="8890">
            <a:solidFill>
              <a:srgbClr val="D5D8F2"/>
            </a:solidFill>
            <a:prstDash val="solid"/>
          </a:ln>
        </p:spPr>
        <p:txBody>
          <a:bodyPr/>
          <a:lstStyle/>
          <a:p>
            <a:endParaRPr lang="en-US"/>
          </a:p>
        </p:txBody>
      </p:sp>
      <p:sp>
        <p:nvSpPr>
          <p:cNvPr id="39" name="Text 37"/>
          <p:cNvSpPr/>
          <p:nvPr/>
        </p:nvSpPr>
        <p:spPr>
          <a:xfrm>
            <a:off x="283464" y="3346704"/>
            <a:ext cx="914400" cy="246888"/>
          </a:xfrm>
          <a:prstGeom prst="rect">
            <a:avLst/>
          </a:prstGeom>
          <a:noFill/>
          <a:ln/>
        </p:spPr>
        <p:txBody>
          <a:bodyPr wrap="square" lIns="0" tIns="0" rIns="0" bIns="0" rtlCol="0" anchor="ctr"/>
          <a:lstStyle/>
          <a:p>
            <a:pPr marL="0" indent="0" algn="ctr">
              <a:buNone/>
            </a:pPr>
            <a:r>
              <a:rPr lang="en-US" sz="750" dirty="0">
                <a:solidFill>
                  <a:srgbClr val="2E3399"/>
                </a:solidFill>
              </a:rPr>
              <a:t>Node.js</a:t>
            </a:r>
            <a:endParaRPr lang="en-US" sz="750" dirty="0"/>
          </a:p>
        </p:txBody>
      </p:sp>
      <p:sp>
        <p:nvSpPr>
          <p:cNvPr id="40" name="Shape 38"/>
          <p:cNvSpPr/>
          <p:nvPr/>
        </p:nvSpPr>
        <p:spPr>
          <a:xfrm>
            <a:off x="1298448" y="3346704"/>
            <a:ext cx="914400" cy="246888"/>
          </a:xfrm>
          <a:prstGeom prst="rect">
            <a:avLst/>
          </a:prstGeom>
          <a:solidFill>
            <a:srgbClr val="ECEEFA"/>
          </a:solidFill>
          <a:ln w="8890">
            <a:solidFill>
              <a:srgbClr val="D5D8F2"/>
            </a:solidFill>
            <a:prstDash val="solid"/>
          </a:ln>
        </p:spPr>
        <p:txBody>
          <a:bodyPr/>
          <a:lstStyle/>
          <a:p>
            <a:endParaRPr lang="en-US"/>
          </a:p>
        </p:txBody>
      </p:sp>
      <p:sp>
        <p:nvSpPr>
          <p:cNvPr id="41" name="Text 39"/>
          <p:cNvSpPr/>
          <p:nvPr/>
        </p:nvSpPr>
        <p:spPr>
          <a:xfrm>
            <a:off x="1298448" y="3346704"/>
            <a:ext cx="914400" cy="246888"/>
          </a:xfrm>
          <a:prstGeom prst="rect">
            <a:avLst/>
          </a:prstGeom>
          <a:noFill/>
          <a:ln/>
        </p:spPr>
        <p:txBody>
          <a:bodyPr wrap="square" lIns="0" tIns="0" rIns="0" bIns="0" rtlCol="0" anchor="ctr"/>
          <a:lstStyle/>
          <a:p>
            <a:pPr marL="0" indent="0" algn="ctr">
              <a:buNone/>
            </a:pPr>
            <a:r>
              <a:rPr lang="en-US" sz="750" dirty="0">
                <a:solidFill>
                  <a:srgbClr val="2E3399"/>
                </a:solidFill>
              </a:rPr>
              <a:t>Cloudflare</a:t>
            </a:r>
            <a:endParaRPr lang="en-US" sz="750" dirty="0"/>
          </a:p>
        </p:txBody>
      </p:sp>
      <p:sp>
        <p:nvSpPr>
          <p:cNvPr id="42" name="Shape 40"/>
          <p:cNvSpPr/>
          <p:nvPr/>
        </p:nvSpPr>
        <p:spPr>
          <a:xfrm>
            <a:off x="2313432" y="3346704"/>
            <a:ext cx="914400" cy="246888"/>
          </a:xfrm>
          <a:prstGeom prst="rect">
            <a:avLst/>
          </a:prstGeom>
          <a:solidFill>
            <a:srgbClr val="ECEEFA"/>
          </a:solidFill>
          <a:ln w="8890">
            <a:solidFill>
              <a:srgbClr val="D5D8F2"/>
            </a:solidFill>
            <a:prstDash val="solid"/>
          </a:ln>
        </p:spPr>
        <p:txBody>
          <a:bodyPr/>
          <a:lstStyle/>
          <a:p>
            <a:endParaRPr lang="en-US"/>
          </a:p>
        </p:txBody>
      </p:sp>
      <p:sp>
        <p:nvSpPr>
          <p:cNvPr id="43" name="Text 41"/>
          <p:cNvSpPr/>
          <p:nvPr/>
        </p:nvSpPr>
        <p:spPr>
          <a:xfrm>
            <a:off x="2313432" y="3346704"/>
            <a:ext cx="914400" cy="246888"/>
          </a:xfrm>
          <a:prstGeom prst="rect">
            <a:avLst/>
          </a:prstGeom>
          <a:noFill/>
          <a:ln/>
        </p:spPr>
        <p:txBody>
          <a:bodyPr wrap="square" lIns="0" tIns="0" rIns="0" bIns="0" rtlCol="0" anchor="ctr"/>
          <a:lstStyle/>
          <a:p>
            <a:pPr marL="0" indent="0" algn="ctr">
              <a:buNone/>
            </a:pPr>
            <a:r>
              <a:rPr lang="en-US" sz="750" dirty="0">
                <a:solidFill>
                  <a:srgbClr val="2E3399"/>
                </a:solidFill>
              </a:rPr>
              <a:t>GitHub</a:t>
            </a:r>
            <a:endParaRPr lang="en-US" sz="750" dirty="0"/>
          </a:p>
        </p:txBody>
      </p:sp>
      <p:sp>
        <p:nvSpPr>
          <p:cNvPr id="44" name="Shape 42"/>
          <p:cNvSpPr/>
          <p:nvPr/>
        </p:nvSpPr>
        <p:spPr>
          <a:xfrm>
            <a:off x="283464" y="3675888"/>
            <a:ext cx="914400" cy="246888"/>
          </a:xfrm>
          <a:prstGeom prst="rect">
            <a:avLst/>
          </a:prstGeom>
          <a:solidFill>
            <a:srgbClr val="ECEEFA"/>
          </a:solidFill>
          <a:ln w="8890">
            <a:solidFill>
              <a:srgbClr val="D5D8F2"/>
            </a:solidFill>
            <a:prstDash val="solid"/>
          </a:ln>
        </p:spPr>
        <p:txBody>
          <a:bodyPr/>
          <a:lstStyle/>
          <a:p>
            <a:endParaRPr lang="en-US"/>
          </a:p>
        </p:txBody>
      </p:sp>
      <p:sp>
        <p:nvSpPr>
          <p:cNvPr id="45" name="Text 43"/>
          <p:cNvSpPr/>
          <p:nvPr/>
        </p:nvSpPr>
        <p:spPr>
          <a:xfrm>
            <a:off x="283464" y="3675888"/>
            <a:ext cx="914400" cy="246888"/>
          </a:xfrm>
          <a:prstGeom prst="rect">
            <a:avLst/>
          </a:prstGeom>
          <a:noFill/>
          <a:ln/>
        </p:spPr>
        <p:txBody>
          <a:bodyPr wrap="square" lIns="0" tIns="0" rIns="0" bIns="0" rtlCol="0" anchor="ctr"/>
          <a:lstStyle/>
          <a:p>
            <a:pPr marL="0" indent="0" algn="ctr">
              <a:buNone/>
            </a:pPr>
            <a:r>
              <a:rPr lang="en-US" sz="750" dirty="0">
                <a:solidFill>
                  <a:srgbClr val="2E3399"/>
                </a:solidFill>
              </a:rPr>
              <a:t>Claude Code</a:t>
            </a:r>
            <a:endParaRPr lang="en-US" sz="750" dirty="0"/>
          </a:p>
        </p:txBody>
      </p:sp>
      <p:sp>
        <p:nvSpPr>
          <p:cNvPr id="46" name="Shape 44"/>
          <p:cNvSpPr/>
          <p:nvPr/>
        </p:nvSpPr>
        <p:spPr>
          <a:xfrm>
            <a:off x="1298448" y="3675888"/>
            <a:ext cx="914400" cy="246888"/>
          </a:xfrm>
          <a:prstGeom prst="rect">
            <a:avLst/>
          </a:prstGeom>
          <a:solidFill>
            <a:srgbClr val="ECEEFA"/>
          </a:solidFill>
          <a:ln w="8890">
            <a:solidFill>
              <a:srgbClr val="D5D8F2"/>
            </a:solidFill>
            <a:prstDash val="solid"/>
          </a:ln>
        </p:spPr>
        <p:txBody>
          <a:bodyPr/>
          <a:lstStyle/>
          <a:p>
            <a:endParaRPr lang="en-US"/>
          </a:p>
        </p:txBody>
      </p:sp>
      <p:sp>
        <p:nvSpPr>
          <p:cNvPr id="47" name="Text 45"/>
          <p:cNvSpPr/>
          <p:nvPr/>
        </p:nvSpPr>
        <p:spPr>
          <a:xfrm>
            <a:off x="1298448" y="3675888"/>
            <a:ext cx="914400" cy="246888"/>
          </a:xfrm>
          <a:prstGeom prst="rect">
            <a:avLst/>
          </a:prstGeom>
          <a:noFill/>
          <a:ln/>
        </p:spPr>
        <p:txBody>
          <a:bodyPr wrap="square" lIns="0" tIns="0" rIns="0" bIns="0" rtlCol="0" anchor="ctr"/>
          <a:lstStyle/>
          <a:p>
            <a:pPr marL="0" indent="0" algn="ctr">
              <a:buNone/>
            </a:pPr>
            <a:r>
              <a:rPr lang="en-US" sz="750" dirty="0">
                <a:solidFill>
                  <a:srgbClr val="2E3399"/>
                </a:solidFill>
              </a:rPr>
              <a:t>js-yaml</a:t>
            </a:r>
            <a:endParaRPr lang="en-US" sz="750" dirty="0"/>
          </a:p>
        </p:txBody>
      </p:sp>
      <p:sp>
        <p:nvSpPr>
          <p:cNvPr id="48" name="Shape 46"/>
          <p:cNvSpPr/>
          <p:nvPr/>
        </p:nvSpPr>
        <p:spPr>
          <a:xfrm>
            <a:off x="2313432" y="3675888"/>
            <a:ext cx="914400" cy="246888"/>
          </a:xfrm>
          <a:prstGeom prst="rect">
            <a:avLst/>
          </a:prstGeom>
          <a:solidFill>
            <a:srgbClr val="ECEEFA"/>
          </a:solidFill>
          <a:ln w="8890">
            <a:solidFill>
              <a:srgbClr val="D5D8F2"/>
            </a:solidFill>
            <a:prstDash val="solid"/>
          </a:ln>
        </p:spPr>
        <p:txBody>
          <a:bodyPr/>
          <a:lstStyle/>
          <a:p>
            <a:endParaRPr lang="en-US"/>
          </a:p>
        </p:txBody>
      </p:sp>
      <p:sp>
        <p:nvSpPr>
          <p:cNvPr id="49" name="Text 47"/>
          <p:cNvSpPr/>
          <p:nvPr/>
        </p:nvSpPr>
        <p:spPr>
          <a:xfrm>
            <a:off x="2313432" y="3675888"/>
            <a:ext cx="914400" cy="246888"/>
          </a:xfrm>
          <a:prstGeom prst="rect">
            <a:avLst/>
          </a:prstGeom>
          <a:noFill/>
          <a:ln/>
        </p:spPr>
        <p:txBody>
          <a:bodyPr wrap="square" lIns="0" tIns="0" rIns="0" bIns="0" rtlCol="0" anchor="ctr"/>
          <a:lstStyle/>
          <a:p>
            <a:pPr marL="0" indent="0" algn="ctr">
              <a:buNone/>
            </a:pPr>
            <a:r>
              <a:rPr lang="en-US" sz="750" dirty="0">
                <a:solidFill>
                  <a:srgbClr val="2E3399"/>
                </a:solidFill>
              </a:rPr>
              <a:t>cheerio</a:t>
            </a:r>
            <a:endParaRPr lang="en-US" sz="750" dirty="0"/>
          </a:p>
        </p:txBody>
      </p:sp>
      <p:sp>
        <p:nvSpPr>
          <p:cNvPr id="50" name="Shape 48"/>
          <p:cNvSpPr/>
          <p:nvPr/>
        </p:nvSpPr>
        <p:spPr>
          <a:xfrm>
            <a:off x="283464" y="4005072"/>
            <a:ext cx="914400" cy="246888"/>
          </a:xfrm>
          <a:prstGeom prst="rect">
            <a:avLst/>
          </a:prstGeom>
          <a:solidFill>
            <a:srgbClr val="ECEEFA"/>
          </a:solidFill>
          <a:ln w="8890">
            <a:solidFill>
              <a:srgbClr val="D5D8F2"/>
            </a:solidFill>
            <a:prstDash val="solid"/>
          </a:ln>
        </p:spPr>
        <p:txBody>
          <a:bodyPr/>
          <a:lstStyle/>
          <a:p>
            <a:endParaRPr lang="en-US"/>
          </a:p>
        </p:txBody>
      </p:sp>
      <p:sp>
        <p:nvSpPr>
          <p:cNvPr id="51" name="Text 49"/>
          <p:cNvSpPr/>
          <p:nvPr/>
        </p:nvSpPr>
        <p:spPr>
          <a:xfrm>
            <a:off x="283464" y="4005072"/>
            <a:ext cx="914400" cy="246888"/>
          </a:xfrm>
          <a:prstGeom prst="rect">
            <a:avLst/>
          </a:prstGeom>
          <a:noFill/>
          <a:ln/>
        </p:spPr>
        <p:txBody>
          <a:bodyPr wrap="square" lIns="0" tIns="0" rIns="0" bIns="0" rtlCol="0" anchor="ctr"/>
          <a:lstStyle/>
          <a:p>
            <a:pPr marL="0" indent="0" algn="ctr">
              <a:buNone/>
            </a:pPr>
            <a:r>
              <a:rPr lang="en-US" sz="750" dirty="0">
                <a:solidFill>
                  <a:srgbClr val="2E3399"/>
                </a:solidFill>
              </a:rPr>
              <a:t>EPAM DIAL</a:t>
            </a:r>
            <a:endParaRPr lang="en-US" sz="750" dirty="0"/>
          </a:p>
        </p:txBody>
      </p:sp>
      <p:sp>
        <p:nvSpPr>
          <p:cNvPr id="52" name="Shape 50"/>
          <p:cNvSpPr/>
          <p:nvPr/>
        </p:nvSpPr>
        <p:spPr>
          <a:xfrm>
            <a:off x="164592" y="4846320"/>
            <a:ext cx="3154680" cy="1709928"/>
          </a:xfrm>
          <a:prstGeom prst="rect">
            <a:avLst/>
          </a:prstGeom>
          <a:solidFill>
            <a:srgbClr val="FDFCF9"/>
          </a:solidFill>
          <a:ln w="8890">
            <a:solidFill>
              <a:srgbClr val="DDDAD0"/>
            </a:solidFill>
            <a:prstDash val="solid"/>
          </a:ln>
        </p:spPr>
        <p:txBody>
          <a:bodyPr/>
          <a:lstStyle/>
          <a:p>
            <a:endParaRPr lang="en-US"/>
          </a:p>
        </p:txBody>
      </p:sp>
      <p:sp>
        <p:nvSpPr>
          <p:cNvPr id="53" name="Text 51"/>
          <p:cNvSpPr/>
          <p:nvPr/>
        </p:nvSpPr>
        <p:spPr>
          <a:xfrm>
            <a:off x="301752" y="4974336"/>
            <a:ext cx="2880360" cy="201168"/>
          </a:xfrm>
          <a:prstGeom prst="rect">
            <a:avLst/>
          </a:prstGeom>
          <a:noFill/>
          <a:ln/>
        </p:spPr>
        <p:txBody>
          <a:bodyPr wrap="square" lIns="0" tIns="0" rIns="0" bIns="0" rtlCol="0" anchor="ctr"/>
          <a:lstStyle/>
          <a:p>
            <a:pPr marL="0" indent="0" algn="l">
              <a:buNone/>
            </a:pPr>
            <a:r>
              <a:rPr lang="en-US" sz="750" b="1" kern="0" spc="250" dirty="0">
                <a:solidFill>
                  <a:srgbClr val="3F45C4"/>
                </a:solidFill>
              </a:rPr>
              <a:t>BUSINESS CHALLENGES</a:t>
            </a:r>
            <a:endParaRPr lang="en-US" sz="750" dirty="0"/>
          </a:p>
        </p:txBody>
      </p:sp>
      <p:sp>
        <p:nvSpPr>
          <p:cNvPr id="54" name="Shape 52"/>
          <p:cNvSpPr/>
          <p:nvPr/>
        </p:nvSpPr>
        <p:spPr>
          <a:xfrm>
            <a:off x="301752" y="5175504"/>
            <a:ext cx="548640" cy="0"/>
          </a:xfrm>
          <a:prstGeom prst="line">
            <a:avLst/>
          </a:prstGeom>
          <a:noFill/>
          <a:ln w="12700">
            <a:solidFill>
              <a:srgbClr val="3F45C4"/>
            </a:solidFill>
            <a:prstDash val="solid"/>
          </a:ln>
        </p:spPr>
        <p:txBody>
          <a:bodyPr/>
          <a:lstStyle/>
          <a:p>
            <a:endParaRPr lang="en-US"/>
          </a:p>
        </p:txBody>
      </p:sp>
      <p:sp>
        <p:nvSpPr>
          <p:cNvPr id="55" name="Text 53"/>
          <p:cNvSpPr/>
          <p:nvPr/>
        </p:nvSpPr>
        <p:spPr>
          <a:xfrm>
            <a:off x="301752" y="5248656"/>
            <a:ext cx="2880360" cy="1252728"/>
          </a:xfrm>
          <a:prstGeom prst="rect">
            <a:avLst/>
          </a:prstGeom>
          <a:noFill/>
          <a:ln/>
        </p:spPr>
        <p:txBody>
          <a:bodyPr wrap="square" lIns="0" tIns="0" rIns="0" bIns="0" rtlCol="0" anchor="t"/>
          <a:lstStyle/>
          <a:p>
            <a:pPr marL="342900" indent="-342900">
              <a:lnSpc>
                <a:spcPct val="150000"/>
              </a:lnSpc>
              <a:buSzPct val="100000"/>
              <a:buChar char="•"/>
            </a:pPr>
            <a:r>
              <a:rPr lang="en-US" sz="850" dirty="0">
                <a:solidFill>
                  <a:srgbClr val="4A5263"/>
                </a:solidFill>
              </a:rPr>
              <a:t>Study content trapped in one-off files</a:t>
            </a:r>
            <a:endParaRPr lang="en-US" sz="850" dirty="0"/>
          </a:p>
          <a:p>
            <a:pPr marL="342900" indent="-342900">
              <a:lnSpc>
                <a:spcPct val="150000"/>
              </a:lnSpc>
              <a:buSzPct val="100000"/>
              <a:buChar char="•"/>
            </a:pPr>
            <a:r>
              <a:rPr lang="en-US" sz="850" dirty="0">
                <a:solidFill>
                  <a:srgbClr val="4A5263"/>
                </a:solidFill>
              </a:rPr>
              <a:t>New topics mean repetitive manual work</a:t>
            </a:r>
            <a:endParaRPr lang="en-US" sz="850" dirty="0"/>
          </a:p>
          <a:p>
            <a:pPr marL="342900" indent="-342900">
              <a:lnSpc>
                <a:spcPct val="150000"/>
              </a:lnSpc>
              <a:buSzPct val="100000"/>
              <a:buChar char="•"/>
            </a:pPr>
            <a:r>
              <a:rPr lang="en-US" sz="850" dirty="0">
                <a:solidFill>
                  <a:srgbClr val="4A5263"/>
                </a:solidFill>
              </a:rPr>
              <a:t>Reading is not practice: no self-check</a:t>
            </a:r>
            <a:endParaRPr lang="en-US" sz="850" dirty="0"/>
          </a:p>
          <a:p>
            <a:pPr marL="342900" indent="-342900">
              <a:lnSpc>
                <a:spcPct val="150000"/>
              </a:lnSpc>
              <a:buSzPct val="100000"/>
              <a:buChar char="•"/>
            </a:pPr>
            <a:r>
              <a:rPr lang="en-US" sz="850" dirty="0">
                <a:solidFill>
                  <a:srgbClr val="4A5263"/>
                </a:solidFill>
              </a:rPr>
              <a:t>Generated answers need a review step</a:t>
            </a:r>
            <a:endParaRPr lang="en-US" sz="850" dirty="0"/>
          </a:p>
        </p:txBody>
      </p:sp>
      <p:sp>
        <p:nvSpPr>
          <p:cNvPr id="56" name="Shape 54"/>
          <p:cNvSpPr/>
          <p:nvPr/>
        </p:nvSpPr>
        <p:spPr>
          <a:xfrm>
            <a:off x="3483864" y="1143000"/>
            <a:ext cx="4892040" cy="960120"/>
          </a:xfrm>
          <a:prstGeom prst="rect">
            <a:avLst/>
          </a:prstGeom>
          <a:solidFill>
            <a:srgbClr val="FDFCF9"/>
          </a:solidFill>
          <a:ln w="8890">
            <a:solidFill>
              <a:srgbClr val="DDDAD0"/>
            </a:solidFill>
            <a:prstDash val="solid"/>
          </a:ln>
        </p:spPr>
        <p:txBody>
          <a:bodyPr/>
          <a:lstStyle/>
          <a:p>
            <a:endParaRPr lang="en-US"/>
          </a:p>
        </p:txBody>
      </p:sp>
      <p:sp>
        <p:nvSpPr>
          <p:cNvPr id="57" name="Text 55"/>
          <p:cNvSpPr/>
          <p:nvPr/>
        </p:nvSpPr>
        <p:spPr>
          <a:xfrm>
            <a:off x="3621024" y="1271016"/>
            <a:ext cx="4617720" cy="201168"/>
          </a:xfrm>
          <a:prstGeom prst="rect">
            <a:avLst/>
          </a:prstGeom>
          <a:noFill/>
          <a:ln/>
        </p:spPr>
        <p:txBody>
          <a:bodyPr wrap="square" lIns="0" tIns="0" rIns="0" bIns="0" rtlCol="0" anchor="ctr"/>
          <a:lstStyle/>
          <a:p>
            <a:pPr marL="0" indent="0" algn="l">
              <a:buNone/>
            </a:pPr>
            <a:r>
              <a:rPr lang="en-US" sz="750" b="1" kern="0" spc="250" dirty="0">
                <a:solidFill>
                  <a:srgbClr val="3F45C4"/>
                </a:solidFill>
              </a:rPr>
              <a:t>INTRODUCTION</a:t>
            </a:r>
            <a:endParaRPr lang="en-US" sz="750" dirty="0"/>
          </a:p>
        </p:txBody>
      </p:sp>
      <p:sp>
        <p:nvSpPr>
          <p:cNvPr id="58" name="Shape 56"/>
          <p:cNvSpPr/>
          <p:nvPr/>
        </p:nvSpPr>
        <p:spPr>
          <a:xfrm>
            <a:off x="3621024" y="1472184"/>
            <a:ext cx="548640" cy="0"/>
          </a:xfrm>
          <a:prstGeom prst="line">
            <a:avLst/>
          </a:prstGeom>
          <a:noFill/>
          <a:ln w="12700">
            <a:solidFill>
              <a:srgbClr val="3F45C4"/>
            </a:solidFill>
            <a:prstDash val="solid"/>
          </a:ln>
        </p:spPr>
        <p:txBody>
          <a:bodyPr/>
          <a:lstStyle/>
          <a:p>
            <a:endParaRPr lang="en-US"/>
          </a:p>
        </p:txBody>
      </p:sp>
      <p:sp>
        <p:nvSpPr>
          <p:cNvPr id="59" name="Text 57"/>
          <p:cNvSpPr/>
          <p:nvPr/>
        </p:nvSpPr>
        <p:spPr>
          <a:xfrm>
            <a:off x="3621024" y="1545336"/>
            <a:ext cx="4617720" cy="502920"/>
          </a:xfrm>
          <a:prstGeom prst="rect">
            <a:avLst/>
          </a:prstGeom>
          <a:noFill/>
          <a:ln/>
        </p:spPr>
        <p:txBody>
          <a:bodyPr wrap="square" lIns="0" tIns="0" rIns="0" bIns="0" rtlCol="0" anchor="t"/>
          <a:lstStyle/>
          <a:p>
            <a:pPr marL="0" indent="0">
              <a:buNone/>
            </a:pPr>
            <a:r>
              <a:rPr lang="en-US" sz="900" dirty="0">
                <a:solidFill>
                  <a:srgbClr val="4A5263"/>
                </a:solidFill>
              </a:rPr>
              <a:t>A static-site generator plus three agent features: one topic title becomes a structured Q&amp;A deck, a quiz on every card, and a mock interview that grades spoken-style answers against those cards.</a:t>
            </a:r>
            <a:endParaRPr lang="en-US" sz="900" dirty="0"/>
          </a:p>
        </p:txBody>
      </p:sp>
      <p:sp>
        <p:nvSpPr>
          <p:cNvPr id="60" name="Shape 58"/>
          <p:cNvSpPr/>
          <p:nvPr/>
        </p:nvSpPr>
        <p:spPr>
          <a:xfrm>
            <a:off x="3483864" y="2240280"/>
            <a:ext cx="4892040" cy="4315968"/>
          </a:xfrm>
          <a:prstGeom prst="rect">
            <a:avLst/>
          </a:prstGeom>
          <a:solidFill>
            <a:srgbClr val="FDFCF9"/>
          </a:solidFill>
          <a:ln w="8890">
            <a:solidFill>
              <a:srgbClr val="DDDAD0"/>
            </a:solidFill>
            <a:prstDash val="solid"/>
          </a:ln>
        </p:spPr>
        <p:txBody>
          <a:bodyPr/>
          <a:lstStyle/>
          <a:p>
            <a:endParaRPr lang="en-US"/>
          </a:p>
        </p:txBody>
      </p:sp>
      <p:sp>
        <p:nvSpPr>
          <p:cNvPr id="61" name="Text 59"/>
          <p:cNvSpPr/>
          <p:nvPr/>
        </p:nvSpPr>
        <p:spPr>
          <a:xfrm>
            <a:off x="3621024" y="2368296"/>
            <a:ext cx="4617720" cy="201168"/>
          </a:xfrm>
          <a:prstGeom prst="rect">
            <a:avLst/>
          </a:prstGeom>
          <a:noFill/>
          <a:ln/>
        </p:spPr>
        <p:txBody>
          <a:bodyPr wrap="square" lIns="0" tIns="0" rIns="0" bIns="0" rtlCol="0" anchor="ctr"/>
          <a:lstStyle/>
          <a:p>
            <a:pPr marL="0" indent="0" algn="l">
              <a:buNone/>
            </a:pPr>
            <a:r>
              <a:rPr lang="en-US" sz="750" b="1" kern="0" spc="250" dirty="0">
                <a:solidFill>
                  <a:srgbClr val="3F45C4"/>
                </a:solidFill>
              </a:rPr>
              <a:t>SOLUTION</a:t>
            </a:r>
            <a:endParaRPr lang="en-US" sz="750" dirty="0"/>
          </a:p>
        </p:txBody>
      </p:sp>
      <p:sp>
        <p:nvSpPr>
          <p:cNvPr id="62" name="Shape 60"/>
          <p:cNvSpPr/>
          <p:nvPr/>
        </p:nvSpPr>
        <p:spPr>
          <a:xfrm>
            <a:off x="3621024" y="2569464"/>
            <a:ext cx="548640" cy="0"/>
          </a:xfrm>
          <a:prstGeom prst="line">
            <a:avLst/>
          </a:prstGeom>
          <a:noFill/>
          <a:ln w="12700">
            <a:solidFill>
              <a:srgbClr val="3F45C4"/>
            </a:solidFill>
            <a:prstDash val="solid"/>
          </a:ln>
        </p:spPr>
        <p:txBody>
          <a:bodyPr/>
          <a:lstStyle/>
          <a:p>
            <a:endParaRPr lang="en-US"/>
          </a:p>
        </p:txBody>
      </p:sp>
      <p:sp>
        <p:nvSpPr>
          <p:cNvPr id="63" name="Shape 61"/>
          <p:cNvSpPr/>
          <p:nvPr/>
        </p:nvSpPr>
        <p:spPr>
          <a:xfrm>
            <a:off x="3648456" y="2642616"/>
            <a:ext cx="4562856" cy="2057400"/>
          </a:xfrm>
          <a:prstGeom prst="rect">
            <a:avLst/>
          </a:prstGeom>
          <a:solidFill>
            <a:srgbClr val="FDFCF9"/>
          </a:solidFill>
          <a:ln w="8890">
            <a:solidFill>
              <a:srgbClr val="DDDAD0"/>
            </a:solidFill>
            <a:prstDash val="solid"/>
          </a:ln>
        </p:spPr>
        <p:txBody>
          <a:bodyPr/>
          <a:lstStyle/>
          <a:p>
            <a:endParaRPr lang="en-US"/>
          </a:p>
        </p:txBody>
      </p:sp>
      <p:sp>
        <p:nvSpPr>
          <p:cNvPr id="64" name="Text 62"/>
          <p:cNvSpPr/>
          <p:nvPr/>
        </p:nvSpPr>
        <p:spPr>
          <a:xfrm>
            <a:off x="3648456" y="2642616"/>
            <a:ext cx="4562856" cy="2057400"/>
          </a:xfrm>
          <a:prstGeom prst="rect">
            <a:avLst/>
          </a:prstGeom>
          <a:noFill/>
          <a:ln/>
        </p:spPr>
        <p:txBody>
          <a:bodyPr wrap="square" lIns="0" tIns="0" rIns="0" bIns="0" rtlCol="0" anchor="ctr"/>
          <a:lstStyle/>
          <a:p>
            <a:pPr marL="0" indent="0" algn="ctr">
              <a:buNone/>
            </a:pPr>
            <a:endParaRPr lang="en-US" sz="1000" dirty="0"/>
          </a:p>
        </p:txBody>
      </p:sp>
      <p:sp>
        <p:nvSpPr>
          <p:cNvPr id="65" name="Shape 63"/>
          <p:cNvSpPr/>
          <p:nvPr/>
        </p:nvSpPr>
        <p:spPr>
          <a:xfrm>
            <a:off x="3648456" y="4837176"/>
            <a:ext cx="4562856" cy="0"/>
          </a:xfrm>
          <a:prstGeom prst="line">
            <a:avLst/>
          </a:prstGeom>
          <a:noFill/>
          <a:ln w="5080">
            <a:solidFill>
              <a:srgbClr val="DDDAD0"/>
            </a:solidFill>
            <a:prstDash val="solid"/>
          </a:ln>
        </p:spPr>
        <p:txBody>
          <a:bodyPr/>
          <a:lstStyle/>
          <a:p>
            <a:endParaRPr lang="en-US"/>
          </a:p>
        </p:txBody>
      </p:sp>
      <p:sp>
        <p:nvSpPr>
          <p:cNvPr id="66" name="Text 64"/>
          <p:cNvSpPr/>
          <p:nvPr/>
        </p:nvSpPr>
        <p:spPr>
          <a:xfrm>
            <a:off x="3648456" y="4928616"/>
            <a:ext cx="4562856" cy="1536192"/>
          </a:xfrm>
          <a:prstGeom prst="rect">
            <a:avLst/>
          </a:prstGeom>
          <a:noFill/>
          <a:ln/>
        </p:spPr>
        <p:txBody>
          <a:bodyPr wrap="square" lIns="0" tIns="0" rIns="0" bIns="0" rtlCol="0" anchor="t"/>
          <a:lstStyle/>
          <a:p>
            <a:pPr marL="0" indent="0">
              <a:lnSpc>
                <a:spcPct val="145000"/>
              </a:lnSpc>
              <a:buNone/>
            </a:pPr>
            <a:r>
              <a:rPr lang="en-US" sz="900" dirty="0">
                <a:solidFill>
                  <a:srgbClr val="4A5263"/>
                </a:solidFill>
              </a:rPr>
              <a:t>Node.js build renders each deck's YAML through a template lifted from the prototype's own CSS/JS, zero framework. Three agent slices run on EPAM DIAL: quiz items generated ahead of time and committed as a diff, a mock interview served by a local server, and a pipeline that plans, writes and reviews a whole deck from one title, stopping twice for human review. Each agent uses the cheapest model that passed a spot check.</a:t>
            </a:r>
            <a:endParaRPr lang="en-US" sz="900" dirty="0"/>
          </a:p>
        </p:txBody>
      </p:sp>
      <p:sp>
        <p:nvSpPr>
          <p:cNvPr id="67" name="Shape 65"/>
          <p:cNvSpPr/>
          <p:nvPr/>
        </p:nvSpPr>
        <p:spPr>
          <a:xfrm>
            <a:off x="8540496" y="1143000"/>
            <a:ext cx="3456432" cy="5413248"/>
          </a:xfrm>
          <a:prstGeom prst="rect">
            <a:avLst/>
          </a:prstGeom>
          <a:solidFill>
            <a:srgbClr val="FDFCF9"/>
          </a:solidFill>
          <a:ln w="8890">
            <a:solidFill>
              <a:srgbClr val="DDDAD0"/>
            </a:solidFill>
            <a:prstDash val="solid"/>
          </a:ln>
        </p:spPr>
        <p:txBody>
          <a:bodyPr/>
          <a:lstStyle/>
          <a:p>
            <a:endParaRPr lang="en-US"/>
          </a:p>
        </p:txBody>
      </p:sp>
      <p:sp>
        <p:nvSpPr>
          <p:cNvPr id="68" name="Text 66"/>
          <p:cNvSpPr/>
          <p:nvPr/>
        </p:nvSpPr>
        <p:spPr>
          <a:xfrm>
            <a:off x="8677656" y="1271016"/>
            <a:ext cx="3182112" cy="201168"/>
          </a:xfrm>
          <a:prstGeom prst="rect">
            <a:avLst/>
          </a:prstGeom>
          <a:noFill/>
          <a:ln/>
        </p:spPr>
        <p:txBody>
          <a:bodyPr wrap="square" lIns="0" tIns="0" rIns="0" bIns="0" rtlCol="0" anchor="ctr"/>
          <a:lstStyle/>
          <a:p>
            <a:pPr marL="0" indent="0" algn="l">
              <a:buNone/>
            </a:pPr>
            <a:r>
              <a:rPr lang="en-US" sz="750" b="1" kern="0" spc="250" dirty="0">
                <a:solidFill>
                  <a:srgbClr val="3F45C4"/>
                </a:solidFill>
              </a:rPr>
              <a:t>OTHERS</a:t>
            </a:r>
            <a:endParaRPr lang="en-US" sz="750" dirty="0"/>
          </a:p>
        </p:txBody>
      </p:sp>
      <p:sp>
        <p:nvSpPr>
          <p:cNvPr id="69" name="Shape 67"/>
          <p:cNvSpPr/>
          <p:nvPr/>
        </p:nvSpPr>
        <p:spPr>
          <a:xfrm>
            <a:off x="8677656" y="1472184"/>
            <a:ext cx="548640" cy="0"/>
          </a:xfrm>
          <a:prstGeom prst="line">
            <a:avLst/>
          </a:prstGeom>
          <a:noFill/>
          <a:ln w="12700">
            <a:solidFill>
              <a:srgbClr val="3F45C4"/>
            </a:solidFill>
            <a:prstDash val="solid"/>
          </a:ln>
        </p:spPr>
        <p:txBody>
          <a:bodyPr/>
          <a:lstStyle/>
          <a:p>
            <a:endParaRPr lang="en-US"/>
          </a:p>
        </p:txBody>
      </p:sp>
      <p:sp>
        <p:nvSpPr>
          <p:cNvPr id="70" name="Shape 68"/>
          <p:cNvSpPr/>
          <p:nvPr/>
        </p:nvSpPr>
        <p:spPr>
          <a:xfrm>
            <a:off x="8677656" y="1600200"/>
            <a:ext cx="36576" cy="1143000"/>
          </a:xfrm>
          <a:prstGeom prst="rect">
            <a:avLst/>
          </a:prstGeom>
          <a:solidFill>
            <a:srgbClr val="D08A2E"/>
          </a:solidFill>
          <a:ln w="12700">
            <a:solidFill>
              <a:srgbClr val="D08A2E"/>
            </a:solidFill>
            <a:prstDash val="solid"/>
          </a:ln>
        </p:spPr>
        <p:txBody>
          <a:bodyPr/>
          <a:lstStyle/>
          <a:p>
            <a:endParaRPr lang="en-US"/>
          </a:p>
        </p:txBody>
      </p:sp>
      <p:sp>
        <p:nvSpPr>
          <p:cNvPr id="71" name="Text 69"/>
          <p:cNvSpPr/>
          <p:nvPr/>
        </p:nvSpPr>
        <p:spPr>
          <a:xfrm>
            <a:off x="8796528" y="1691640"/>
            <a:ext cx="3044952" cy="201168"/>
          </a:xfrm>
          <a:prstGeom prst="rect">
            <a:avLst/>
          </a:prstGeom>
          <a:noFill/>
          <a:ln/>
        </p:spPr>
        <p:txBody>
          <a:bodyPr wrap="square" lIns="0" tIns="0" rIns="0" bIns="0" rtlCol="0" anchor="ctr"/>
          <a:lstStyle/>
          <a:p>
            <a:pPr marL="0" indent="0">
              <a:buNone/>
            </a:pPr>
            <a:r>
              <a:rPr lang="en-US" sz="750" b="1" kern="0" spc="200" dirty="0">
                <a:solidFill>
                  <a:srgbClr val="3F45C4"/>
                </a:solidFill>
              </a:rPr>
              <a:t>IMPACT</a:t>
            </a:r>
            <a:endParaRPr lang="en-US" sz="750" dirty="0"/>
          </a:p>
        </p:txBody>
      </p:sp>
      <p:sp>
        <p:nvSpPr>
          <p:cNvPr id="72" name="Text 70"/>
          <p:cNvSpPr/>
          <p:nvPr/>
        </p:nvSpPr>
        <p:spPr>
          <a:xfrm>
            <a:off x="8796528" y="1911096"/>
            <a:ext cx="3044952" cy="740664"/>
          </a:xfrm>
          <a:prstGeom prst="rect">
            <a:avLst/>
          </a:prstGeom>
          <a:noFill/>
          <a:ln/>
        </p:spPr>
        <p:txBody>
          <a:bodyPr wrap="square" lIns="0" tIns="0" rIns="0" bIns="0" rtlCol="0" anchor="t"/>
          <a:lstStyle/>
          <a:p>
            <a:pPr marL="0" indent="0">
              <a:lnSpc>
                <a:spcPct val="140000"/>
              </a:lnSpc>
              <a:buNone/>
            </a:pPr>
            <a:r>
              <a:rPr lang="en-US" sz="850" dirty="0">
                <a:solidFill>
                  <a:srgbClr val="4A5263"/>
                </a:solidFill>
              </a:rPr>
              <a:t>Live behind Cloudflare Access: 44 interview questions, each with a generated quiz item. The mock interview grades answers against the cards and names what was missed. A new topic is one command, cents per deck.</a:t>
            </a:r>
            <a:endParaRPr lang="en-US" sz="850" dirty="0"/>
          </a:p>
        </p:txBody>
      </p:sp>
      <p:sp>
        <p:nvSpPr>
          <p:cNvPr id="73" name="Shape 71"/>
          <p:cNvSpPr/>
          <p:nvPr/>
        </p:nvSpPr>
        <p:spPr>
          <a:xfrm>
            <a:off x="8677656" y="2834640"/>
            <a:ext cx="3182112" cy="0"/>
          </a:xfrm>
          <a:prstGeom prst="line">
            <a:avLst/>
          </a:prstGeom>
          <a:noFill/>
          <a:ln w="5080">
            <a:solidFill>
              <a:srgbClr val="DDDAD0"/>
            </a:solidFill>
            <a:prstDash val="solid"/>
          </a:ln>
        </p:spPr>
        <p:txBody>
          <a:bodyPr/>
          <a:lstStyle/>
          <a:p>
            <a:endParaRPr lang="en-US"/>
          </a:p>
        </p:txBody>
      </p:sp>
      <p:sp>
        <p:nvSpPr>
          <p:cNvPr id="74" name="Shape 72"/>
          <p:cNvSpPr/>
          <p:nvPr/>
        </p:nvSpPr>
        <p:spPr>
          <a:xfrm>
            <a:off x="8677656" y="2926080"/>
            <a:ext cx="36576" cy="1143000"/>
          </a:xfrm>
          <a:prstGeom prst="rect">
            <a:avLst/>
          </a:prstGeom>
          <a:solidFill>
            <a:srgbClr val="3F45C4"/>
          </a:solidFill>
          <a:ln w="12700">
            <a:solidFill>
              <a:srgbClr val="3F45C4"/>
            </a:solidFill>
            <a:prstDash val="solid"/>
          </a:ln>
        </p:spPr>
        <p:txBody>
          <a:bodyPr/>
          <a:lstStyle/>
          <a:p>
            <a:endParaRPr lang="en-US"/>
          </a:p>
        </p:txBody>
      </p:sp>
      <p:sp>
        <p:nvSpPr>
          <p:cNvPr id="75" name="Text 73"/>
          <p:cNvSpPr/>
          <p:nvPr/>
        </p:nvSpPr>
        <p:spPr>
          <a:xfrm>
            <a:off x="8796528" y="3017520"/>
            <a:ext cx="3044952" cy="201168"/>
          </a:xfrm>
          <a:prstGeom prst="rect">
            <a:avLst/>
          </a:prstGeom>
          <a:noFill/>
          <a:ln/>
        </p:spPr>
        <p:txBody>
          <a:bodyPr wrap="square" lIns="0" tIns="0" rIns="0" bIns="0" rtlCol="0" anchor="ctr"/>
          <a:lstStyle/>
          <a:p>
            <a:pPr marL="0" indent="0">
              <a:buNone/>
            </a:pPr>
            <a:r>
              <a:rPr lang="en-US" sz="750" b="1" kern="0" spc="200" dirty="0">
                <a:solidFill>
                  <a:srgbClr val="3F45C4"/>
                </a:solidFill>
              </a:rPr>
              <a:t>LEARNINGS</a:t>
            </a:r>
            <a:endParaRPr lang="en-US" sz="750" dirty="0"/>
          </a:p>
        </p:txBody>
      </p:sp>
      <p:sp>
        <p:nvSpPr>
          <p:cNvPr id="76" name="Text 74"/>
          <p:cNvSpPr/>
          <p:nvPr/>
        </p:nvSpPr>
        <p:spPr>
          <a:xfrm>
            <a:off x="8796528" y="3236976"/>
            <a:ext cx="3044952" cy="740664"/>
          </a:xfrm>
          <a:prstGeom prst="rect">
            <a:avLst/>
          </a:prstGeom>
          <a:noFill/>
          <a:ln/>
        </p:spPr>
        <p:txBody>
          <a:bodyPr wrap="square" lIns="0" tIns="0" rIns="0" bIns="0" rtlCol="0" anchor="t"/>
          <a:lstStyle/>
          <a:p>
            <a:pPr marL="0" indent="0">
              <a:lnSpc>
                <a:spcPct val="140000"/>
              </a:lnSpc>
              <a:buNone/>
            </a:pPr>
            <a:r>
              <a:rPr lang="en-US" sz="850" dirty="0">
                <a:solidFill>
                  <a:srgbClr val="4A5263"/>
                </a:solidFill>
              </a:rPr>
              <a:t>DIAL is reachable only through the EPAM VPN, and whitelisting covers EPAM-managed cloud only, so the mock interview cannot be served from the public site. The personal key also rules out team use.</a:t>
            </a:r>
            <a:endParaRPr lang="en-US" sz="850" dirty="0"/>
          </a:p>
        </p:txBody>
      </p:sp>
      <p:sp>
        <p:nvSpPr>
          <p:cNvPr id="77" name="Shape 75"/>
          <p:cNvSpPr/>
          <p:nvPr/>
        </p:nvSpPr>
        <p:spPr>
          <a:xfrm>
            <a:off x="8677656" y="4160520"/>
            <a:ext cx="3182112" cy="0"/>
          </a:xfrm>
          <a:prstGeom prst="line">
            <a:avLst/>
          </a:prstGeom>
          <a:noFill/>
          <a:ln w="5080">
            <a:solidFill>
              <a:srgbClr val="DDDAD0"/>
            </a:solidFill>
            <a:prstDash val="solid"/>
          </a:ln>
        </p:spPr>
        <p:txBody>
          <a:bodyPr/>
          <a:lstStyle/>
          <a:p>
            <a:endParaRPr lang="en-US"/>
          </a:p>
        </p:txBody>
      </p:sp>
      <p:sp>
        <p:nvSpPr>
          <p:cNvPr id="78" name="Shape 76"/>
          <p:cNvSpPr/>
          <p:nvPr/>
        </p:nvSpPr>
        <p:spPr>
          <a:xfrm>
            <a:off x="8677656" y="4251960"/>
            <a:ext cx="36576" cy="1143000"/>
          </a:xfrm>
          <a:prstGeom prst="rect">
            <a:avLst/>
          </a:prstGeom>
          <a:solidFill>
            <a:srgbClr val="3F45C4"/>
          </a:solidFill>
          <a:ln w="12700">
            <a:solidFill>
              <a:srgbClr val="3F45C4"/>
            </a:solidFill>
            <a:prstDash val="solid"/>
          </a:ln>
        </p:spPr>
        <p:txBody>
          <a:bodyPr/>
          <a:lstStyle/>
          <a:p>
            <a:endParaRPr lang="en-US"/>
          </a:p>
        </p:txBody>
      </p:sp>
      <p:sp>
        <p:nvSpPr>
          <p:cNvPr id="79" name="Text 77"/>
          <p:cNvSpPr/>
          <p:nvPr/>
        </p:nvSpPr>
        <p:spPr>
          <a:xfrm>
            <a:off x="8796528" y="4343400"/>
            <a:ext cx="3044952" cy="201168"/>
          </a:xfrm>
          <a:prstGeom prst="rect">
            <a:avLst/>
          </a:prstGeom>
          <a:noFill/>
          <a:ln/>
        </p:spPr>
        <p:txBody>
          <a:bodyPr wrap="square" lIns="0" tIns="0" rIns="0" bIns="0" rtlCol="0" anchor="ctr"/>
          <a:lstStyle/>
          <a:p>
            <a:pPr marL="0" indent="0">
              <a:buNone/>
            </a:pPr>
            <a:r>
              <a:rPr lang="en-US" sz="750" b="1" kern="0" spc="200" dirty="0">
                <a:solidFill>
                  <a:srgbClr val="3F45C4"/>
                </a:solidFill>
              </a:rPr>
              <a:t>NEXT STEPS</a:t>
            </a:r>
            <a:endParaRPr lang="en-US" sz="750" dirty="0"/>
          </a:p>
        </p:txBody>
      </p:sp>
      <p:sp>
        <p:nvSpPr>
          <p:cNvPr id="80" name="Text 78"/>
          <p:cNvSpPr/>
          <p:nvPr/>
        </p:nvSpPr>
        <p:spPr>
          <a:xfrm>
            <a:off x="8796528" y="4562856"/>
            <a:ext cx="3044952" cy="740664"/>
          </a:xfrm>
          <a:prstGeom prst="rect">
            <a:avLst/>
          </a:prstGeom>
          <a:noFill/>
          <a:ln/>
        </p:spPr>
        <p:txBody>
          <a:bodyPr wrap="square" lIns="0" tIns="0" rIns="0" bIns="0" rtlCol="0" anchor="t"/>
          <a:lstStyle/>
          <a:p>
            <a:pPr marL="0" indent="0">
              <a:lnSpc>
                <a:spcPct val="140000"/>
              </a:lnSpc>
              <a:buNone/>
            </a:pPr>
            <a:r>
              <a:rPr lang="en-US" sz="850" dirty="0">
                <a:solidFill>
                  <a:srgbClr val="4A5263"/>
                </a:solidFill>
              </a:rPr>
              <a:t>Host the whole thing on AWS in an EPAM-managed account: whitelisted outbound IP, a non-personal key, and the interview served from the site instead of a laptop. Then a daily spend cap per person.</a:t>
            </a:r>
            <a:endParaRPr lang="en-US" sz="850" dirty="0"/>
          </a:p>
        </p:txBody>
      </p:sp>
      <p:sp>
        <p:nvSpPr>
          <p:cNvPr id="81" name="Shape 79"/>
          <p:cNvSpPr/>
          <p:nvPr/>
        </p:nvSpPr>
        <p:spPr>
          <a:xfrm>
            <a:off x="8677656" y="5623560"/>
            <a:ext cx="3182112" cy="0"/>
          </a:xfrm>
          <a:prstGeom prst="line">
            <a:avLst/>
          </a:prstGeom>
          <a:noFill/>
          <a:ln w="5080">
            <a:solidFill>
              <a:srgbClr val="DDDAD0"/>
            </a:solidFill>
            <a:prstDash val="solid"/>
          </a:ln>
        </p:spPr>
        <p:txBody>
          <a:bodyPr/>
          <a:lstStyle/>
          <a:p>
            <a:endParaRPr lang="en-US"/>
          </a:p>
        </p:txBody>
      </p:sp>
      <p:sp>
        <p:nvSpPr>
          <p:cNvPr id="82" name="Text 80"/>
          <p:cNvSpPr/>
          <p:nvPr/>
        </p:nvSpPr>
        <p:spPr>
          <a:xfrm>
            <a:off x="8796528" y="5742432"/>
            <a:ext cx="3044952" cy="201168"/>
          </a:xfrm>
          <a:prstGeom prst="rect">
            <a:avLst/>
          </a:prstGeom>
          <a:noFill/>
          <a:ln/>
        </p:spPr>
        <p:txBody>
          <a:bodyPr wrap="square" lIns="0" tIns="0" rIns="0" bIns="0" rtlCol="0" anchor="ctr"/>
          <a:lstStyle/>
          <a:p>
            <a:pPr marL="0" indent="0">
              <a:buNone/>
            </a:pPr>
            <a:r>
              <a:rPr lang="en-US" sz="750" b="1" kern="0" spc="200" dirty="0">
                <a:solidFill>
                  <a:srgbClr val="3F45C4"/>
                </a:solidFill>
              </a:rPr>
              <a:t>ADDITIONAL NOTES</a:t>
            </a:r>
            <a:endParaRPr lang="en-US" sz="750" dirty="0"/>
          </a:p>
        </p:txBody>
      </p:sp>
      <p:sp>
        <p:nvSpPr>
          <p:cNvPr id="83" name="Text 81"/>
          <p:cNvSpPr/>
          <p:nvPr/>
        </p:nvSpPr>
        <p:spPr>
          <a:xfrm>
            <a:off x="8796528" y="5980176"/>
            <a:ext cx="3044952" cy="914400"/>
          </a:xfrm>
          <a:prstGeom prst="rect">
            <a:avLst/>
          </a:prstGeom>
          <a:noFill/>
          <a:ln/>
        </p:spPr>
        <p:txBody>
          <a:bodyPr wrap="square" lIns="0" tIns="0" rIns="0" bIns="0" rtlCol="0" anchor="t"/>
          <a:lstStyle/>
          <a:p>
            <a:pPr marL="0" indent="0">
              <a:lnSpc>
                <a:spcPct val="140000"/>
              </a:lnSpc>
              <a:buNone/>
            </a:pPr>
            <a:r>
              <a:rPr lang="en-US" sz="850" dirty="0">
                <a:solidFill>
                  <a:srgbClr val="5E6475"/>
                </a:solidFill>
              </a:rPr>
              <a:t>Specs in-repo: site-generator, agents, topic-pipeline. 47 tests. Repo: github.com/Lukasz-dataeng/ai-upskill-learning-site (site needs an allowed email).</a:t>
            </a:r>
            <a:endParaRPr lang="en-US" sz="850" dirty="0"/>
          </a:p>
        </p:txBody>
      </p:sp>
      <p:sp>
        <p:nvSpPr>
          <p:cNvPr id="84" name="Shape 82"/>
          <p:cNvSpPr/>
          <p:nvPr/>
        </p:nvSpPr>
        <p:spPr>
          <a:xfrm>
            <a:off x="0" y="6601968"/>
            <a:ext cx="12161520" cy="256032"/>
          </a:xfrm>
          <a:prstGeom prst="rect">
            <a:avLst/>
          </a:prstGeom>
          <a:solidFill>
            <a:srgbClr val="1B2233"/>
          </a:solidFill>
          <a:ln w="5080">
            <a:solidFill>
              <a:srgbClr val="1B2233"/>
            </a:solidFill>
            <a:prstDash val="solid"/>
          </a:ln>
        </p:spPr>
        <p:txBody>
          <a:bodyPr/>
          <a:lstStyle/>
          <a:p>
            <a:endParaRPr lang="en-US"/>
          </a:p>
        </p:txBody>
      </p:sp>
      <p:sp>
        <p:nvSpPr>
          <p:cNvPr id="85" name="Text 83"/>
          <p:cNvSpPr/>
          <p:nvPr/>
        </p:nvSpPr>
        <p:spPr>
          <a:xfrm>
            <a:off x="201168" y="6611112"/>
            <a:ext cx="5486400" cy="246888"/>
          </a:xfrm>
          <a:prstGeom prst="rect">
            <a:avLst/>
          </a:prstGeom>
          <a:noFill/>
          <a:ln/>
        </p:spPr>
        <p:txBody>
          <a:bodyPr wrap="square" lIns="0" tIns="0" rIns="0" bIns="0" rtlCol="0" anchor="ctr"/>
          <a:lstStyle/>
          <a:p>
            <a:pPr marL="0" indent="0">
              <a:buNone/>
            </a:pPr>
            <a:r>
              <a:rPr lang="en-US" sz="700" kern="0" spc="150" dirty="0">
                <a:solidFill>
                  <a:srgbClr val="C9CEDA"/>
                </a:solidFill>
              </a:rPr>
              <a:t>.NET AI UPSKILL INITIATIVE · SEPTEMBER 2026</a:t>
            </a:r>
            <a:endParaRPr lang="en-US" sz="700" dirty="0"/>
          </a:p>
        </p:txBody>
      </p:sp>
      <p:sp>
        <p:nvSpPr>
          <p:cNvPr id="86" name="Text 84"/>
          <p:cNvSpPr/>
          <p:nvPr/>
        </p:nvSpPr>
        <p:spPr>
          <a:xfrm>
            <a:off x="9966960" y="6611112"/>
            <a:ext cx="2011680" cy="246888"/>
          </a:xfrm>
          <a:prstGeom prst="rect">
            <a:avLst/>
          </a:prstGeom>
          <a:noFill/>
          <a:ln/>
        </p:spPr>
        <p:txBody>
          <a:bodyPr wrap="square" lIns="0" tIns="0" rIns="0" bIns="0" rtlCol="0" anchor="ctr"/>
          <a:lstStyle/>
          <a:p>
            <a:pPr marL="0" indent="0" algn="r">
              <a:buNone/>
            </a:pPr>
            <a:r>
              <a:rPr lang="en-US" sz="700" kern="0" spc="150" dirty="0">
                <a:solidFill>
                  <a:srgbClr val="C9CEDA"/>
                </a:solidFill>
              </a:rPr>
              <a:t>CONFIDENTIAL</a:t>
            </a:r>
            <a:endParaRPr lang="en-US" sz="700" dirty="0"/>
          </a:p>
        </p:txBody>
      </p:sp>
      <p:pic>
        <p:nvPicPr>
          <p:cNvPr id="200" name="Architecture Diagram"/>
          <p:cNvPicPr>
            <a:picLocks noChangeAspect="1"/>
          </p:cNvPicPr>
          <p:nvPr/>
        </p:nvPicPr>
        <p:blipFill>
          <a:blip r:embed="rId3"/>
          <a:stretch>
            <a:fillRect/>
          </a:stretch>
        </p:blipFill>
        <p:spPr>
          <a:xfrm>
            <a:off x="3785616" y="2932735"/>
            <a:ext cx="4288536" cy="14771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F45C4"/>
                </a:solidFill>
                <a:latin typeface="IBM Plex Sans" pitchFamily="34" charset="0"/>
                <a:ea typeface="IBM Plex Sans" pitchFamily="34" charset="-122"/>
                <a:cs typeface="IBM Plex Sans" pitchFamily="34" charset="-120"/>
              </a:rPr>
              <a:t>AI UPSKILL · TOPIC PIPELINE</a:t>
            </a:r>
            <a:endParaRPr lang="en-US" sz="1200" dirty="0"/>
          </a:p>
        </p:txBody>
      </p:sp>
      <p:sp>
        <p:nvSpPr>
          <p:cNvPr id="3" name="Text 1"/>
          <p:cNvSpPr/>
          <p:nvPr/>
        </p:nvSpPr>
        <p:spPr>
          <a:xfrm>
            <a:off x="812800" y="107696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IBM Plex Sans" pitchFamily="34" charset="0"/>
                <a:ea typeface="IBM Plex Sans" pitchFamily="34" charset="-122"/>
                <a:cs typeface="IBM Plex Sans" pitchFamily="34" charset="-120"/>
              </a:rPr>
              <a:t>From one topic title to a live study deck</a:t>
            </a:r>
            <a:endParaRPr lang="en-US" sz="2800" dirty="0"/>
          </a:p>
        </p:txBody>
      </p:sp>
      <p:sp>
        <p:nvSpPr>
          <p:cNvPr id="4" name="Shape 2"/>
          <p:cNvSpPr/>
          <p:nvPr/>
        </p:nvSpPr>
        <p:spPr>
          <a:xfrm>
            <a:off x="819150" y="1728470"/>
            <a:ext cx="2321560" cy="2087880"/>
          </a:xfrm>
          <a:prstGeom prst="roundRect">
            <a:avLst>
              <a:gd name="adj" fmla="val 4562"/>
            </a:avLst>
          </a:prstGeom>
          <a:solidFill>
            <a:srgbClr val="FDFCF9"/>
          </a:solidFill>
          <a:ln w="12700">
            <a:solidFill>
              <a:srgbClr val="DDDAD0"/>
            </a:solidFill>
            <a:prstDash val="solid"/>
          </a:ln>
        </p:spPr>
        <p:txBody>
          <a:bodyPr/>
          <a:lstStyle/>
          <a:p>
            <a:endParaRPr lang="en-GB"/>
          </a:p>
        </p:txBody>
      </p:sp>
      <p:sp>
        <p:nvSpPr>
          <p:cNvPr id="5" name="Text 3"/>
          <p:cNvSpPr/>
          <p:nvPr/>
        </p:nvSpPr>
        <p:spPr>
          <a:xfrm>
            <a:off x="975360" y="188468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01 · INPUT</a:t>
            </a:r>
            <a:endParaRPr lang="en-US" sz="1200" dirty="0"/>
          </a:p>
        </p:txBody>
      </p:sp>
      <p:sp>
        <p:nvSpPr>
          <p:cNvPr id="6" name="Text 4"/>
          <p:cNvSpPr/>
          <p:nvPr/>
        </p:nvSpPr>
        <p:spPr>
          <a:xfrm>
            <a:off x="975360" y="216154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Topic</a:t>
            </a:r>
            <a:endParaRPr lang="en-US" sz="1800" dirty="0"/>
          </a:p>
        </p:txBody>
      </p:sp>
      <p:sp>
        <p:nvSpPr>
          <p:cNvPr id="7" name="Text 5"/>
          <p:cNvSpPr/>
          <p:nvPr/>
        </p:nvSpPr>
        <p:spPr>
          <a:xfrm>
            <a:off x="975360" y="2476500"/>
            <a:ext cx="20694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One title, typed in a terminal.</a:t>
            </a:r>
            <a:endParaRPr lang="en-US" sz="1200" dirty="0"/>
          </a:p>
        </p:txBody>
      </p:sp>
      <p:sp>
        <p:nvSpPr>
          <p:cNvPr id="8" name="Shape 6"/>
          <p:cNvSpPr/>
          <p:nvPr/>
        </p:nvSpPr>
        <p:spPr>
          <a:xfrm>
            <a:off x="975360" y="3411220"/>
            <a:ext cx="2009140" cy="248920"/>
          </a:xfrm>
          <a:prstGeom prst="roundRect">
            <a:avLst>
              <a:gd name="adj" fmla="val 20408"/>
            </a:avLst>
          </a:prstGeom>
          <a:solidFill>
            <a:srgbClr val="ECEEFA"/>
          </a:solidFill>
          <a:ln/>
        </p:spPr>
        <p:txBody>
          <a:bodyPr/>
          <a:lstStyle/>
          <a:p>
            <a:endParaRPr lang="en-GB"/>
          </a:p>
        </p:txBody>
      </p:sp>
      <p:sp>
        <p:nvSpPr>
          <p:cNvPr id="9" name="Text 7"/>
          <p:cNvSpPr/>
          <p:nvPr/>
        </p:nvSpPr>
        <p:spPr>
          <a:xfrm>
            <a:off x="1026160" y="34366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npm run topic</a:t>
            </a:r>
            <a:endParaRPr lang="en-US" sz="1200" dirty="0"/>
          </a:p>
        </p:txBody>
      </p:sp>
      <p:pic>
        <p:nvPicPr>
          <p:cNvPr id="10" name="Image 0" descr="connector"/>
          <p:cNvPicPr>
            <a:picLocks noChangeAspect="1"/>
          </p:cNvPicPr>
          <p:nvPr/>
        </p:nvPicPr>
        <p:blipFill>
          <a:blip r:embed="rId3"/>
          <a:srcRect/>
          <a:stretch/>
        </p:blipFill>
        <p:spPr>
          <a:xfrm>
            <a:off x="3223260" y="2721610"/>
            <a:ext cx="254000" cy="101600"/>
          </a:xfrm>
          <a:prstGeom prst="rect">
            <a:avLst/>
          </a:prstGeom>
        </p:spPr>
      </p:pic>
      <p:sp>
        <p:nvSpPr>
          <p:cNvPr id="11" name="Shape 8"/>
          <p:cNvSpPr/>
          <p:nvPr/>
        </p:nvSpPr>
        <p:spPr>
          <a:xfrm>
            <a:off x="3559810" y="1728470"/>
            <a:ext cx="2321560" cy="2087880"/>
          </a:xfrm>
          <a:prstGeom prst="roundRect">
            <a:avLst>
              <a:gd name="adj" fmla="val 4562"/>
            </a:avLst>
          </a:prstGeom>
          <a:solidFill>
            <a:srgbClr val="FDFCF9"/>
          </a:solidFill>
          <a:ln w="12700">
            <a:solidFill>
              <a:srgbClr val="DDDAD0"/>
            </a:solidFill>
            <a:prstDash val="solid"/>
          </a:ln>
        </p:spPr>
        <p:txBody>
          <a:bodyPr/>
          <a:lstStyle/>
          <a:p>
            <a:endParaRPr lang="en-GB"/>
          </a:p>
        </p:txBody>
      </p:sp>
      <p:sp>
        <p:nvSpPr>
          <p:cNvPr id="12" name="Text 9"/>
          <p:cNvSpPr/>
          <p:nvPr/>
        </p:nvSpPr>
        <p:spPr>
          <a:xfrm>
            <a:off x="3716020" y="188468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02 · PLANNER</a:t>
            </a:r>
            <a:endParaRPr lang="en-US" sz="1200" dirty="0"/>
          </a:p>
        </p:txBody>
      </p:sp>
      <p:sp>
        <p:nvSpPr>
          <p:cNvPr id="13" name="Text 10"/>
          <p:cNvSpPr/>
          <p:nvPr/>
        </p:nvSpPr>
        <p:spPr>
          <a:xfrm>
            <a:off x="3716020" y="216154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Plan</a:t>
            </a:r>
            <a:endParaRPr lang="en-US" sz="1800" dirty="0"/>
          </a:p>
        </p:txBody>
      </p:sp>
      <p:sp>
        <p:nvSpPr>
          <p:cNvPr id="14" name="Text 11"/>
          <p:cNvSpPr/>
          <p:nvPr/>
        </p:nvSpPr>
        <p:spPr>
          <a:xfrm>
            <a:off x="3716020" y="247650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Sections and questions in 3 depth tiers.</a:t>
            </a:r>
            <a:endParaRPr lang="en-US" sz="1200" dirty="0"/>
          </a:p>
        </p:txBody>
      </p:sp>
      <p:sp>
        <p:nvSpPr>
          <p:cNvPr id="15" name="Shape 12"/>
          <p:cNvSpPr/>
          <p:nvPr/>
        </p:nvSpPr>
        <p:spPr>
          <a:xfrm>
            <a:off x="3716020" y="3213100"/>
            <a:ext cx="2009140" cy="447040"/>
          </a:xfrm>
          <a:prstGeom prst="roundRect">
            <a:avLst>
              <a:gd name="adj" fmla="val 11364"/>
            </a:avLst>
          </a:prstGeom>
          <a:solidFill>
            <a:srgbClr val="ECEEFA"/>
          </a:solidFill>
          <a:ln/>
        </p:spPr>
        <p:txBody>
          <a:bodyPr/>
          <a:lstStyle/>
          <a:p>
            <a:endParaRPr lang="en-GB"/>
          </a:p>
        </p:txBody>
      </p:sp>
      <p:sp>
        <p:nvSpPr>
          <p:cNvPr id="16" name="Text 13"/>
          <p:cNvSpPr/>
          <p:nvPr/>
        </p:nvSpPr>
        <p:spPr>
          <a:xfrm>
            <a:off x="3766820" y="3238500"/>
            <a:ext cx="1964766"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gemini-2.5-flash-lite</a:t>
            </a:r>
            <a:endParaRPr lang="en-US" sz="1200" dirty="0"/>
          </a:p>
        </p:txBody>
      </p:sp>
      <p:pic>
        <p:nvPicPr>
          <p:cNvPr id="17" name="Image 1" descr="connector"/>
          <p:cNvPicPr>
            <a:picLocks noChangeAspect="1"/>
          </p:cNvPicPr>
          <p:nvPr/>
        </p:nvPicPr>
        <p:blipFill>
          <a:blip r:embed="rId3"/>
          <a:srcRect/>
          <a:stretch/>
        </p:blipFill>
        <p:spPr>
          <a:xfrm>
            <a:off x="5963920" y="2721610"/>
            <a:ext cx="254000" cy="101600"/>
          </a:xfrm>
          <a:prstGeom prst="rect">
            <a:avLst/>
          </a:prstGeom>
        </p:spPr>
      </p:pic>
      <p:sp>
        <p:nvSpPr>
          <p:cNvPr id="18" name="Shape 14"/>
          <p:cNvSpPr/>
          <p:nvPr/>
        </p:nvSpPr>
        <p:spPr>
          <a:xfrm>
            <a:off x="6303645" y="1731645"/>
            <a:ext cx="2325370" cy="2081530"/>
          </a:xfrm>
          <a:prstGeom prst="roundRect">
            <a:avLst>
              <a:gd name="adj" fmla="val 4423"/>
            </a:avLst>
          </a:prstGeom>
          <a:solidFill>
            <a:srgbClr val="FCEFD9"/>
          </a:solidFill>
          <a:ln w="19050">
            <a:solidFill>
              <a:srgbClr val="D08A2E"/>
            </a:solidFill>
            <a:prstDash val="solid"/>
          </a:ln>
        </p:spPr>
        <p:txBody>
          <a:bodyPr/>
          <a:lstStyle/>
          <a:p>
            <a:endParaRPr lang="en-GB"/>
          </a:p>
        </p:txBody>
      </p:sp>
      <p:pic>
        <p:nvPicPr>
          <p:cNvPr id="19" name="Image 2" descr="Users"/>
          <p:cNvPicPr>
            <a:picLocks noChangeAspect="1"/>
          </p:cNvPicPr>
          <p:nvPr/>
        </p:nvPicPr>
        <p:blipFill>
          <a:blip r:embed="rId4"/>
          <a:srcRect/>
          <a:stretch/>
        </p:blipFill>
        <p:spPr>
          <a:xfrm>
            <a:off x="6461760" y="1894840"/>
            <a:ext cx="203200" cy="203200"/>
          </a:xfrm>
          <a:prstGeom prst="rect">
            <a:avLst/>
          </a:prstGeom>
        </p:spPr>
      </p:pic>
      <p:sp>
        <p:nvSpPr>
          <p:cNvPr id="20" name="Text 15"/>
          <p:cNvSpPr/>
          <p:nvPr/>
        </p:nvSpPr>
        <p:spPr>
          <a:xfrm>
            <a:off x="6728460" y="1889760"/>
            <a:ext cx="132429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1 · HUMAN</a:t>
            </a:r>
            <a:endParaRPr lang="en-US" sz="1200" dirty="0"/>
          </a:p>
        </p:txBody>
      </p:sp>
      <p:sp>
        <p:nvSpPr>
          <p:cNvPr id="21" name="Text 16"/>
          <p:cNvSpPr/>
          <p:nvPr/>
        </p:nvSpPr>
        <p:spPr>
          <a:xfrm>
            <a:off x="6461760" y="21666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Review plan</a:t>
            </a:r>
            <a:endParaRPr lang="en-US" sz="1800" dirty="0"/>
          </a:p>
        </p:txBody>
      </p:sp>
      <p:sp>
        <p:nvSpPr>
          <p:cNvPr id="22" name="Text 17"/>
          <p:cNvSpPr/>
          <p:nvPr/>
        </p:nvSpPr>
        <p:spPr>
          <a:xfrm>
            <a:off x="6461760" y="24815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read and edit the plan, then say yes.</a:t>
            </a:r>
            <a:endParaRPr lang="en-US" sz="1200" dirty="0"/>
          </a:p>
        </p:txBody>
      </p:sp>
      <p:sp>
        <p:nvSpPr>
          <p:cNvPr id="23" name="Shape 18"/>
          <p:cNvSpPr/>
          <p:nvPr/>
        </p:nvSpPr>
        <p:spPr>
          <a:xfrm>
            <a:off x="6461760" y="3406140"/>
            <a:ext cx="2009140" cy="248920"/>
          </a:xfrm>
          <a:prstGeom prst="roundRect">
            <a:avLst>
              <a:gd name="adj" fmla="val 20408"/>
            </a:avLst>
          </a:prstGeom>
          <a:solidFill>
            <a:srgbClr val="F7DDB3"/>
          </a:solidFill>
          <a:ln/>
        </p:spPr>
        <p:txBody>
          <a:bodyPr/>
          <a:lstStyle/>
          <a:p>
            <a:endParaRPr lang="en-GB"/>
          </a:p>
        </p:txBody>
      </p:sp>
      <p:sp>
        <p:nvSpPr>
          <p:cNvPr id="24" name="Text 19"/>
          <p:cNvSpPr/>
          <p:nvPr/>
        </p:nvSpPr>
        <p:spPr>
          <a:xfrm>
            <a:off x="6512560" y="343154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7A3A05"/>
                </a:solidFill>
                <a:latin typeface="JetBrains Mono" pitchFamily="34" charset="0"/>
                <a:ea typeface="JetBrains Mono" pitchFamily="34" charset="-122"/>
                <a:cs typeface="JetBrains Mono" pitchFamily="34" charset="-120"/>
              </a:rPr>
              <a:t>Continue? [y/N]</a:t>
            </a:r>
            <a:endParaRPr lang="en-US" sz="1200" dirty="0"/>
          </a:p>
        </p:txBody>
      </p:sp>
      <p:pic>
        <p:nvPicPr>
          <p:cNvPr id="25" name="Image 3" descr="connector"/>
          <p:cNvPicPr>
            <a:picLocks noChangeAspect="1"/>
          </p:cNvPicPr>
          <p:nvPr/>
        </p:nvPicPr>
        <p:blipFill>
          <a:blip r:embed="rId3"/>
          <a:srcRect/>
          <a:stretch/>
        </p:blipFill>
        <p:spPr>
          <a:xfrm>
            <a:off x="8714740" y="2721610"/>
            <a:ext cx="254000" cy="101600"/>
          </a:xfrm>
          <a:prstGeom prst="rect">
            <a:avLst/>
          </a:prstGeom>
        </p:spPr>
      </p:pic>
      <p:sp>
        <p:nvSpPr>
          <p:cNvPr id="26" name="Shape 20"/>
          <p:cNvSpPr/>
          <p:nvPr/>
        </p:nvSpPr>
        <p:spPr>
          <a:xfrm>
            <a:off x="9051290" y="1728470"/>
            <a:ext cx="2321560" cy="2087880"/>
          </a:xfrm>
          <a:prstGeom prst="roundRect">
            <a:avLst>
              <a:gd name="adj" fmla="val 4562"/>
            </a:avLst>
          </a:prstGeom>
          <a:solidFill>
            <a:srgbClr val="FDFCF9"/>
          </a:solidFill>
          <a:ln w="12700">
            <a:solidFill>
              <a:srgbClr val="DDDAD0"/>
            </a:solidFill>
            <a:prstDash val="solid"/>
          </a:ln>
        </p:spPr>
        <p:txBody>
          <a:bodyPr/>
          <a:lstStyle/>
          <a:p>
            <a:endParaRPr lang="en-GB"/>
          </a:p>
        </p:txBody>
      </p:sp>
      <p:sp>
        <p:nvSpPr>
          <p:cNvPr id="27" name="Text 21"/>
          <p:cNvSpPr/>
          <p:nvPr/>
        </p:nvSpPr>
        <p:spPr>
          <a:xfrm>
            <a:off x="9207500" y="188468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03 · WRITE + CHECK</a:t>
            </a:r>
            <a:endParaRPr lang="en-US" sz="1200" dirty="0"/>
          </a:p>
        </p:txBody>
      </p:sp>
      <p:sp>
        <p:nvSpPr>
          <p:cNvPr id="28" name="Text 22"/>
          <p:cNvSpPr/>
          <p:nvPr/>
        </p:nvSpPr>
        <p:spPr>
          <a:xfrm>
            <a:off x="9207500" y="216154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Answer</a:t>
            </a:r>
            <a:endParaRPr lang="en-US" sz="1800" dirty="0"/>
          </a:p>
        </p:txBody>
      </p:sp>
      <p:sp>
        <p:nvSpPr>
          <p:cNvPr id="29" name="Text 23"/>
          <p:cNvSpPr/>
          <p:nvPr/>
        </p:nvSpPr>
        <p:spPr>
          <a:xfrm>
            <a:off x="9207500" y="247650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Written, then checked by a second model.</a:t>
            </a:r>
            <a:endParaRPr lang="en-US" sz="1200" dirty="0"/>
          </a:p>
        </p:txBody>
      </p:sp>
      <p:sp>
        <p:nvSpPr>
          <p:cNvPr id="30" name="Shape 24"/>
          <p:cNvSpPr/>
          <p:nvPr/>
        </p:nvSpPr>
        <p:spPr>
          <a:xfrm>
            <a:off x="9207500" y="3014980"/>
            <a:ext cx="2009140" cy="645160"/>
          </a:xfrm>
          <a:prstGeom prst="roundRect">
            <a:avLst>
              <a:gd name="adj" fmla="val 7874"/>
            </a:avLst>
          </a:prstGeom>
          <a:solidFill>
            <a:srgbClr val="ECEEFA"/>
          </a:solidFill>
          <a:ln/>
        </p:spPr>
        <p:txBody>
          <a:bodyPr/>
          <a:lstStyle/>
          <a:p>
            <a:endParaRPr lang="en-GB"/>
          </a:p>
        </p:txBody>
      </p:sp>
      <p:sp>
        <p:nvSpPr>
          <p:cNvPr id="31" name="Text 25"/>
          <p:cNvSpPr/>
          <p:nvPr/>
        </p:nvSpPr>
        <p:spPr>
          <a:xfrm>
            <a:off x="9258300" y="3040380"/>
            <a:ext cx="1964766"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gpt-5.6-luna → gemini-3.1-flash-lite</a:t>
            </a:r>
            <a:endParaRPr lang="en-US" sz="1200" dirty="0"/>
          </a:p>
        </p:txBody>
      </p:sp>
      <p:sp>
        <p:nvSpPr>
          <p:cNvPr id="32" name="Shape 26"/>
          <p:cNvSpPr/>
          <p:nvPr/>
        </p:nvSpPr>
        <p:spPr>
          <a:xfrm>
            <a:off x="819150" y="4006850"/>
            <a:ext cx="2321560" cy="1701800"/>
          </a:xfrm>
          <a:prstGeom prst="roundRect">
            <a:avLst>
              <a:gd name="adj" fmla="val 5597"/>
            </a:avLst>
          </a:prstGeom>
          <a:solidFill>
            <a:srgbClr val="FDFCF9"/>
          </a:solidFill>
          <a:ln w="12700">
            <a:solidFill>
              <a:srgbClr val="DDDAD0"/>
            </a:solidFill>
            <a:prstDash val="solid"/>
          </a:ln>
        </p:spPr>
        <p:txBody>
          <a:bodyPr/>
          <a:lstStyle/>
          <a:p>
            <a:endParaRPr lang="en-GB"/>
          </a:p>
        </p:txBody>
      </p:sp>
      <p:sp>
        <p:nvSpPr>
          <p:cNvPr id="33" name="Text 27"/>
          <p:cNvSpPr/>
          <p:nvPr/>
        </p:nvSpPr>
        <p:spPr>
          <a:xfrm>
            <a:off x="975360" y="416306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04 · QUIZ AGENTS</a:t>
            </a:r>
            <a:endParaRPr lang="en-US" sz="1200" dirty="0"/>
          </a:p>
        </p:txBody>
      </p:sp>
      <p:sp>
        <p:nvSpPr>
          <p:cNvPr id="34" name="Text 28"/>
          <p:cNvSpPr/>
          <p:nvPr/>
        </p:nvSpPr>
        <p:spPr>
          <a:xfrm>
            <a:off x="975360" y="44399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Quiz</a:t>
            </a:r>
            <a:endParaRPr lang="en-US" sz="1800" dirty="0"/>
          </a:p>
        </p:txBody>
      </p:sp>
      <p:sp>
        <p:nvSpPr>
          <p:cNvPr id="35" name="Text 29"/>
          <p:cNvSpPr/>
          <p:nvPr/>
        </p:nvSpPr>
        <p:spPr>
          <a:xfrm>
            <a:off x="975360" y="47548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One multiple-choice item per card.</a:t>
            </a:r>
            <a:endParaRPr lang="en-US" sz="1200" dirty="0"/>
          </a:p>
        </p:txBody>
      </p:sp>
      <p:sp>
        <p:nvSpPr>
          <p:cNvPr id="36" name="Shape 30"/>
          <p:cNvSpPr/>
          <p:nvPr/>
        </p:nvSpPr>
        <p:spPr>
          <a:xfrm>
            <a:off x="975360" y="5303520"/>
            <a:ext cx="2009140" cy="248920"/>
          </a:xfrm>
          <a:prstGeom prst="roundRect">
            <a:avLst>
              <a:gd name="adj" fmla="val 20408"/>
            </a:avLst>
          </a:prstGeom>
          <a:solidFill>
            <a:srgbClr val="ECEEFA"/>
          </a:solidFill>
          <a:ln/>
        </p:spPr>
        <p:txBody>
          <a:bodyPr/>
          <a:lstStyle/>
          <a:p>
            <a:endParaRPr lang="en-GB"/>
          </a:p>
        </p:txBody>
      </p:sp>
      <p:sp>
        <p:nvSpPr>
          <p:cNvPr id="37" name="Text 31"/>
          <p:cNvSpPr/>
          <p:nvPr/>
        </p:nvSpPr>
        <p:spPr>
          <a:xfrm>
            <a:off x="1026160" y="53289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gpt-5.6-luna</a:t>
            </a:r>
            <a:endParaRPr lang="en-US" sz="1200" dirty="0"/>
          </a:p>
        </p:txBody>
      </p:sp>
      <p:pic>
        <p:nvPicPr>
          <p:cNvPr id="38" name="Image 4" descr="connector"/>
          <p:cNvPicPr>
            <a:picLocks noChangeAspect="1"/>
          </p:cNvPicPr>
          <p:nvPr/>
        </p:nvPicPr>
        <p:blipFill>
          <a:blip r:embed="rId3"/>
          <a:srcRect/>
          <a:stretch/>
        </p:blipFill>
        <p:spPr>
          <a:xfrm>
            <a:off x="3223260" y="4806950"/>
            <a:ext cx="254000" cy="101600"/>
          </a:xfrm>
          <a:prstGeom prst="rect">
            <a:avLst/>
          </a:prstGeom>
        </p:spPr>
      </p:pic>
      <p:sp>
        <p:nvSpPr>
          <p:cNvPr id="39" name="Shape 32"/>
          <p:cNvSpPr/>
          <p:nvPr/>
        </p:nvSpPr>
        <p:spPr>
          <a:xfrm>
            <a:off x="3559810" y="4006850"/>
            <a:ext cx="2321560" cy="1701800"/>
          </a:xfrm>
          <a:prstGeom prst="roundRect">
            <a:avLst>
              <a:gd name="adj" fmla="val 5597"/>
            </a:avLst>
          </a:prstGeom>
          <a:solidFill>
            <a:srgbClr val="FDFCF9"/>
          </a:solidFill>
          <a:ln w="12700">
            <a:solidFill>
              <a:srgbClr val="DDDAD0"/>
            </a:solidFill>
            <a:prstDash val="solid"/>
          </a:ln>
        </p:spPr>
        <p:txBody>
          <a:bodyPr/>
          <a:lstStyle/>
          <a:p>
            <a:endParaRPr lang="en-GB"/>
          </a:p>
        </p:txBody>
      </p:sp>
      <p:sp>
        <p:nvSpPr>
          <p:cNvPr id="40" name="Text 33"/>
          <p:cNvSpPr/>
          <p:nvPr/>
        </p:nvSpPr>
        <p:spPr>
          <a:xfrm>
            <a:off x="3716020" y="416306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05 · BUILD</a:t>
            </a:r>
            <a:endParaRPr lang="en-US" sz="1200" dirty="0"/>
          </a:p>
        </p:txBody>
      </p:sp>
      <p:sp>
        <p:nvSpPr>
          <p:cNvPr id="41" name="Text 34"/>
          <p:cNvSpPr/>
          <p:nvPr/>
        </p:nvSpPr>
        <p:spPr>
          <a:xfrm>
            <a:off x="3716020" y="44399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Preview</a:t>
            </a:r>
            <a:endParaRPr lang="en-US" sz="1800" dirty="0"/>
          </a:p>
        </p:txBody>
      </p:sp>
      <p:sp>
        <p:nvSpPr>
          <p:cNvPr id="42" name="Text 35"/>
          <p:cNvSpPr/>
          <p:nvPr/>
        </p:nvSpPr>
        <p:spPr>
          <a:xfrm>
            <a:off x="3716020" y="47548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Site built, mock interview on the new deck.</a:t>
            </a:r>
            <a:endParaRPr lang="en-US" sz="1200" dirty="0"/>
          </a:p>
        </p:txBody>
      </p:sp>
      <p:sp>
        <p:nvSpPr>
          <p:cNvPr id="43" name="Shape 36"/>
          <p:cNvSpPr/>
          <p:nvPr/>
        </p:nvSpPr>
        <p:spPr>
          <a:xfrm>
            <a:off x="3716020" y="5303520"/>
            <a:ext cx="2009140" cy="248920"/>
          </a:xfrm>
          <a:prstGeom prst="roundRect">
            <a:avLst>
              <a:gd name="adj" fmla="val 20408"/>
            </a:avLst>
          </a:prstGeom>
          <a:solidFill>
            <a:srgbClr val="ECEEFA"/>
          </a:solidFill>
          <a:ln/>
        </p:spPr>
        <p:txBody>
          <a:bodyPr/>
          <a:lstStyle/>
          <a:p>
            <a:endParaRPr lang="en-GB"/>
          </a:p>
        </p:txBody>
      </p:sp>
      <p:sp>
        <p:nvSpPr>
          <p:cNvPr id="44" name="Text 37"/>
          <p:cNvSpPr/>
          <p:nvPr/>
        </p:nvSpPr>
        <p:spPr>
          <a:xfrm>
            <a:off x="3766820" y="53289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npm run interview</a:t>
            </a:r>
            <a:endParaRPr lang="en-US" sz="1200" dirty="0"/>
          </a:p>
        </p:txBody>
      </p:sp>
      <p:pic>
        <p:nvPicPr>
          <p:cNvPr id="45" name="Image 5" descr="connector"/>
          <p:cNvPicPr>
            <a:picLocks noChangeAspect="1"/>
          </p:cNvPicPr>
          <p:nvPr/>
        </p:nvPicPr>
        <p:blipFill>
          <a:blip r:embed="rId3"/>
          <a:srcRect/>
          <a:stretch/>
        </p:blipFill>
        <p:spPr>
          <a:xfrm>
            <a:off x="5963920" y="4806950"/>
            <a:ext cx="254000" cy="101600"/>
          </a:xfrm>
          <a:prstGeom prst="rect">
            <a:avLst/>
          </a:prstGeom>
        </p:spPr>
      </p:pic>
      <p:sp>
        <p:nvSpPr>
          <p:cNvPr id="46" name="Shape 38"/>
          <p:cNvSpPr/>
          <p:nvPr/>
        </p:nvSpPr>
        <p:spPr>
          <a:xfrm>
            <a:off x="6303645" y="4010025"/>
            <a:ext cx="2325370" cy="1695450"/>
          </a:xfrm>
          <a:prstGeom prst="roundRect">
            <a:avLst>
              <a:gd name="adj" fmla="val 5431"/>
            </a:avLst>
          </a:prstGeom>
          <a:solidFill>
            <a:srgbClr val="FCEFD9"/>
          </a:solidFill>
          <a:ln w="19050">
            <a:solidFill>
              <a:srgbClr val="D08A2E"/>
            </a:solidFill>
            <a:prstDash val="solid"/>
          </a:ln>
        </p:spPr>
        <p:txBody>
          <a:bodyPr/>
          <a:lstStyle/>
          <a:p>
            <a:endParaRPr lang="en-GB"/>
          </a:p>
        </p:txBody>
      </p:sp>
      <p:pic>
        <p:nvPicPr>
          <p:cNvPr id="47" name="Image 6" descr="Users"/>
          <p:cNvPicPr>
            <a:picLocks noChangeAspect="1"/>
          </p:cNvPicPr>
          <p:nvPr/>
        </p:nvPicPr>
        <p:blipFill>
          <a:blip r:embed="rId4"/>
          <a:srcRect/>
          <a:stretch/>
        </p:blipFill>
        <p:spPr>
          <a:xfrm>
            <a:off x="6461760" y="4173220"/>
            <a:ext cx="203200" cy="203200"/>
          </a:xfrm>
          <a:prstGeom prst="rect">
            <a:avLst/>
          </a:prstGeom>
        </p:spPr>
      </p:pic>
      <p:sp>
        <p:nvSpPr>
          <p:cNvPr id="48" name="Text 39"/>
          <p:cNvSpPr/>
          <p:nvPr/>
        </p:nvSpPr>
        <p:spPr>
          <a:xfrm>
            <a:off x="6728460" y="4168140"/>
            <a:ext cx="132429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2 · HUMAN</a:t>
            </a:r>
            <a:endParaRPr lang="en-US" sz="1200" dirty="0"/>
          </a:p>
        </p:txBody>
      </p:sp>
      <p:sp>
        <p:nvSpPr>
          <p:cNvPr id="49" name="Text 40"/>
          <p:cNvSpPr/>
          <p:nvPr/>
        </p:nvSpPr>
        <p:spPr>
          <a:xfrm>
            <a:off x="6461760" y="444500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Approve</a:t>
            </a:r>
            <a:endParaRPr lang="en-US" sz="1800" dirty="0"/>
          </a:p>
        </p:txBody>
      </p:sp>
      <p:sp>
        <p:nvSpPr>
          <p:cNvPr id="50" name="Text 41"/>
          <p:cNvSpPr/>
          <p:nvPr/>
        </p:nvSpPr>
        <p:spPr>
          <a:xfrm>
            <a:off x="6461760" y="475996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check content and cost, then say yes.</a:t>
            </a:r>
            <a:endParaRPr lang="en-US" sz="1200" dirty="0"/>
          </a:p>
        </p:txBody>
      </p:sp>
      <p:sp>
        <p:nvSpPr>
          <p:cNvPr id="51" name="Shape 42"/>
          <p:cNvSpPr/>
          <p:nvPr/>
        </p:nvSpPr>
        <p:spPr>
          <a:xfrm>
            <a:off x="6461760" y="5298440"/>
            <a:ext cx="2009140" cy="248920"/>
          </a:xfrm>
          <a:prstGeom prst="roundRect">
            <a:avLst>
              <a:gd name="adj" fmla="val 20408"/>
            </a:avLst>
          </a:prstGeom>
          <a:solidFill>
            <a:srgbClr val="F7DDB3"/>
          </a:solidFill>
          <a:ln/>
        </p:spPr>
        <p:txBody>
          <a:bodyPr/>
          <a:lstStyle/>
          <a:p>
            <a:endParaRPr lang="en-GB"/>
          </a:p>
        </p:txBody>
      </p:sp>
      <p:sp>
        <p:nvSpPr>
          <p:cNvPr id="52" name="Text 43"/>
          <p:cNvSpPr/>
          <p:nvPr/>
        </p:nvSpPr>
        <p:spPr>
          <a:xfrm>
            <a:off x="6512560" y="532384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7A3A05"/>
                </a:solidFill>
                <a:latin typeface="JetBrains Mono" pitchFamily="34" charset="0"/>
                <a:ea typeface="JetBrains Mono" pitchFamily="34" charset="-122"/>
                <a:cs typeface="JetBrains Mono" pitchFamily="34" charset="-120"/>
              </a:rPr>
              <a:t>Publish? [y/N]</a:t>
            </a:r>
            <a:endParaRPr lang="en-US" sz="1200" dirty="0"/>
          </a:p>
        </p:txBody>
      </p:sp>
      <p:pic>
        <p:nvPicPr>
          <p:cNvPr id="53" name="Image 7" descr="connector"/>
          <p:cNvPicPr>
            <a:picLocks noChangeAspect="1"/>
          </p:cNvPicPr>
          <p:nvPr/>
        </p:nvPicPr>
        <p:blipFill>
          <a:blip r:embed="rId3"/>
          <a:srcRect/>
          <a:stretch/>
        </p:blipFill>
        <p:spPr>
          <a:xfrm>
            <a:off x="8714740" y="4806950"/>
            <a:ext cx="254000" cy="101600"/>
          </a:xfrm>
          <a:prstGeom prst="rect">
            <a:avLst/>
          </a:prstGeom>
        </p:spPr>
      </p:pic>
      <p:sp>
        <p:nvSpPr>
          <p:cNvPr id="54" name="Shape 44"/>
          <p:cNvSpPr/>
          <p:nvPr/>
        </p:nvSpPr>
        <p:spPr>
          <a:xfrm>
            <a:off x="9051290" y="4006850"/>
            <a:ext cx="2321560" cy="1701800"/>
          </a:xfrm>
          <a:prstGeom prst="roundRect">
            <a:avLst>
              <a:gd name="adj" fmla="val 5597"/>
            </a:avLst>
          </a:prstGeom>
          <a:solidFill>
            <a:srgbClr val="1B2233"/>
          </a:solidFill>
          <a:ln w="12700">
            <a:solidFill>
              <a:srgbClr val="1B2233"/>
            </a:solidFill>
            <a:prstDash val="solid"/>
          </a:ln>
        </p:spPr>
        <p:txBody>
          <a:bodyPr/>
          <a:lstStyle/>
          <a:p>
            <a:endParaRPr lang="en-GB"/>
          </a:p>
        </p:txBody>
      </p:sp>
      <p:sp>
        <p:nvSpPr>
          <p:cNvPr id="55" name="Text 45"/>
          <p:cNvSpPr/>
          <p:nvPr/>
        </p:nvSpPr>
        <p:spPr>
          <a:xfrm>
            <a:off x="9207500" y="416306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AEB4F5"/>
                </a:solidFill>
                <a:latin typeface="IBM Plex Sans" pitchFamily="34" charset="0"/>
                <a:ea typeface="IBM Plex Sans" pitchFamily="34" charset="-122"/>
                <a:cs typeface="IBM Plex Sans" pitchFamily="34" charset="-120"/>
              </a:rPr>
              <a:t>06 · PUBLISH</a:t>
            </a:r>
            <a:endParaRPr lang="en-US" sz="1200" dirty="0"/>
          </a:p>
        </p:txBody>
      </p:sp>
      <p:sp>
        <p:nvSpPr>
          <p:cNvPr id="56" name="Text 46"/>
          <p:cNvSpPr/>
          <p:nvPr/>
        </p:nvSpPr>
        <p:spPr>
          <a:xfrm>
            <a:off x="9207500" y="44399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F6F5F0"/>
                </a:solidFill>
                <a:latin typeface="IBM Plex Sans" pitchFamily="34" charset="0"/>
                <a:ea typeface="IBM Plex Sans" pitchFamily="34" charset="-122"/>
                <a:cs typeface="IBM Plex Sans" pitchFamily="34" charset="-120"/>
              </a:rPr>
              <a:t>Live</a:t>
            </a:r>
            <a:endParaRPr lang="en-US" sz="1800" dirty="0"/>
          </a:p>
        </p:txBody>
      </p:sp>
      <p:sp>
        <p:nvSpPr>
          <p:cNvPr id="57" name="Text 47"/>
          <p:cNvSpPr/>
          <p:nvPr/>
        </p:nvSpPr>
        <p:spPr>
          <a:xfrm>
            <a:off x="9207500" y="47548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CEDA"/>
                </a:solidFill>
                <a:latin typeface="IBM Plex Sans" pitchFamily="34" charset="0"/>
                <a:ea typeface="IBM Plex Sans" pitchFamily="34" charset="-122"/>
                <a:cs typeface="IBM Plex Sans" pitchFamily="34" charset="-120"/>
              </a:rPr>
              <a:t>Committed and deployed, behind a login.</a:t>
            </a:r>
            <a:endParaRPr lang="en-US" sz="1200" dirty="0"/>
          </a:p>
        </p:txBody>
      </p:sp>
      <p:sp>
        <p:nvSpPr>
          <p:cNvPr id="58" name="Shape 48"/>
          <p:cNvSpPr/>
          <p:nvPr/>
        </p:nvSpPr>
        <p:spPr>
          <a:xfrm>
            <a:off x="9207500" y="5303520"/>
            <a:ext cx="2009140" cy="248920"/>
          </a:xfrm>
          <a:prstGeom prst="roundRect">
            <a:avLst>
              <a:gd name="adj" fmla="val 20408"/>
            </a:avLst>
          </a:prstGeom>
          <a:solidFill>
            <a:srgbClr val="AEB4F5"/>
          </a:solidFill>
          <a:ln/>
        </p:spPr>
        <p:txBody>
          <a:bodyPr/>
          <a:lstStyle/>
          <a:p>
            <a:endParaRPr lang="en-GB"/>
          </a:p>
        </p:txBody>
      </p:sp>
      <p:sp>
        <p:nvSpPr>
          <p:cNvPr id="59" name="Text 49"/>
          <p:cNvSpPr/>
          <p:nvPr/>
        </p:nvSpPr>
        <p:spPr>
          <a:xfrm>
            <a:off x="9258300" y="53289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233"/>
                </a:solidFill>
                <a:latin typeface="JetBrains Mono" pitchFamily="34" charset="0"/>
                <a:ea typeface="JetBrains Mono" pitchFamily="34" charset="-122"/>
                <a:cs typeface="JetBrains Mono" pitchFamily="34" charset="-120"/>
              </a:rPr>
              <a:t>Cloudflare Pages</a:t>
            </a:r>
            <a:endParaRPr lang="en-US" sz="1200" dirty="0"/>
          </a:p>
        </p:txBody>
      </p:sp>
      <p:sp>
        <p:nvSpPr>
          <p:cNvPr id="60" name="Text 50"/>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475"/>
                </a:solidFill>
                <a:latin typeface="IBM Plex Sans" pitchFamily="34" charset="0"/>
                <a:ea typeface="IBM Plex Sans" pitchFamily="34" charset="-122"/>
                <a:cs typeface="IBM Plex Sans" pitchFamily="34" charset="-120"/>
              </a:rPr>
              <a:t>Test run, 8 questions: about 2 minutes, $0.02 on EPAM DIAL · each agent uses the cheapest model that passed a spot check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F45C4"/>
                </a:solidFill>
                <a:latin typeface="IBM Plex Sans" pitchFamily="34" charset="0"/>
                <a:ea typeface="IBM Plex Sans" pitchFamily="34" charset="-122"/>
                <a:cs typeface="IBM Plex Sans" pitchFamily="34" charset="-120"/>
              </a:rPr>
              <a:t>AI UPSKILL · ALTERNATIVE PATH</a:t>
            </a:r>
            <a:endParaRPr lang="en-US" sz="1200" dirty="0"/>
          </a:p>
        </p:txBody>
      </p:sp>
      <p:sp>
        <p:nvSpPr>
          <p:cNvPr id="3" name="Text 1"/>
          <p:cNvSpPr/>
          <p:nvPr/>
        </p:nvSpPr>
        <p:spPr>
          <a:xfrm>
            <a:off x="812800" y="107696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IBM Plex Sans" pitchFamily="34" charset="0"/>
                <a:ea typeface="IBM Plex Sans" pitchFamily="34" charset="-122"/>
                <a:cs typeface="IBM Plex Sans" pitchFamily="34" charset="-120"/>
              </a:rPr>
              <a:t>The same pipeline, driven from a conversation</a:t>
            </a:r>
            <a:endParaRPr lang="en-US" sz="2800" dirty="0"/>
          </a:p>
        </p:txBody>
      </p:sp>
      <p:sp>
        <p:nvSpPr>
          <p:cNvPr id="4" name="Shape 2"/>
          <p:cNvSpPr/>
          <p:nvPr/>
        </p:nvSpPr>
        <p:spPr>
          <a:xfrm>
            <a:off x="819150" y="1677670"/>
            <a:ext cx="3289300" cy="1249680"/>
          </a:xfrm>
          <a:prstGeom prst="roundRect">
            <a:avLst>
              <a:gd name="adj" fmla="val 7622"/>
            </a:avLst>
          </a:prstGeom>
          <a:solidFill>
            <a:srgbClr val="FDFCF9"/>
          </a:solidFill>
          <a:ln w="12700">
            <a:solidFill>
              <a:srgbClr val="DDDAD0"/>
            </a:solidFill>
            <a:prstDash val="solid"/>
          </a:ln>
        </p:spPr>
        <p:txBody>
          <a:bodyPr/>
          <a:lstStyle/>
          <a:p>
            <a:endParaRPr lang="en-GB"/>
          </a:p>
        </p:txBody>
      </p:sp>
      <p:sp>
        <p:nvSpPr>
          <p:cNvPr id="5" name="Text 3"/>
          <p:cNvSpPr/>
          <p:nvPr/>
        </p:nvSpPr>
        <p:spPr>
          <a:xfrm>
            <a:off x="975360" y="1808480"/>
            <a:ext cx="30661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YOU, IN CLAUDE CODE</a:t>
            </a:r>
            <a:endParaRPr lang="en-US" sz="1200" dirty="0"/>
          </a:p>
        </p:txBody>
      </p:sp>
      <p:sp>
        <p:nvSpPr>
          <p:cNvPr id="6" name="Text 4"/>
          <p:cNvSpPr/>
          <p:nvPr/>
        </p:nvSpPr>
        <p:spPr>
          <a:xfrm>
            <a:off x="975360" y="2072640"/>
            <a:ext cx="3066186" cy="505460"/>
          </a:xfrm>
          <a:prstGeom prst="rect">
            <a:avLst/>
          </a:prstGeom>
          <a:noFill/>
          <a:ln/>
        </p:spPr>
        <p:txBody>
          <a:bodyPr wrap="square" lIns="0" tIns="0" rIns="0" bIns="0" rtlCol="0" anchor="t">
            <a:normAutofit/>
          </a:bodyPr>
          <a:lstStyle/>
          <a:p>
            <a:pPr marL="0" indent="0" algn="l">
              <a:lnSpc>
                <a:spcPts val="1890"/>
              </a:lnSpc>
              <a:buNone/>
            </a:pPr>
            <a:r>
              <a:rPr lang="en-US" sz="1400" i="1" dirty="0">
                <a:solidFill>
                  <a:srgbClr val="1B2233"/>
                </a:solidFill>
                <a:latin typeface="IBM Plex Sans" pitchFamily="34" charset="0"/>
                <a:ea typeface="IBM Plex Sans" pitchFamily="34" charset="-122"/>
                <a:cs typeface="IBM Plex Sans" pitchFamily="34" charset="-120"/>
              </a:rPr>
              <a:t>“Make a deck on Object Oriented Programming in Python.”</a:t>
            </a:r>
            <a:endParaRPr lang="en-US" sz="1400" dirty="0"/>
          </a:p>
        </p:txBody>
      </p:sp>
      <p:pic>
        <p:nvPicPr>
          <p:cNvPr id="7" name="Image 0" descr="connector"/>
          <p:cNvPicPr>
            <a:picLocks noChangeAspect="1"/>
          </p:cNvPicPr>
          <p:nvPr/>
        </p:nvPicPr>
        <p:blipFill>
          <a:blip r:embed="rId3"/>
          <a:srcRect/>
          <a:stretch/>
        </p:blipFill>
        <p:spPr>
          <a:xfrm>
            <a:off x="4191000" y="2251710"/>
            <a:ext cx="254000" cy="101600"/>
          </a:xfrm>
          <a:prstGeom prst="rect">
            <a:avLst/>
          </a:prstGeom>
        </p:spPr>
      </p:pic>
      <p:sp>
        <p:nvSpPr>
          <p:cNvPr id="8" name="Shape 5"/>
          <p:cNvSpPr/>
          <p:nvPr/>
        </p:nvSpPr>
        <p:spPr>
          <a:xfrm>
            <a:off x="4527550" y="1677670"/>
            <a:ext cx="4406900" cy="1249680"/>
          </a:xfrm>
          <a:prstGeom prst="roundRect">
            <a:avLst>
              <a:gd name="adj" fmla="val 7622"/>
            </a:avLst>
          </a:prstGeom>
          <a:solidFill>
            <a:srgbClr val="FDFCF9"/>
          </a:solidFill>
          <a:ln w="12700">
            <a:solidFill>
              <a:srgbClr val="DDDAD0"/>
            </a:solidFill>
            <a:prstDash val="solid"/>
          </a:ln>
        </p:spPr>
        <p:txBody>
          <a:bodyPr/>
          <a:lstStyle/>
          <a:p>
            <a:endParaRPr lang="en-GB"/>
          </a:p>
        </p:txBody>
      </p:sp>
      <p:sp>
        <p:nvSpPr>
          <p:cNvPr id="9" name="Text 6"/>
          <p:cNvSpPr/>
          <p:nvPr/>
        </p:nvSpPr>
        <p:spPr>
          <a:xfrm>
            <a:off x="4683760" y="1808480"/>
            <a:ext cx="42173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CLAUDE · PUBLISH-CONTENT SKILL</a:t>
            </a:r>
            <a:endParaRPr lang="en-US" sz="1200" dirty="0"/>
          </a:p>
        </p:txBody>
      </p:sp>
      <p:sp>
        <p:nvSpPr>
          <p:cNvPr id="10" name="Text 7"/>
          <p:cNvSpPr/>
          <p:nvPr/>
        </p:nvSpPr>
        <p:spPr>
          <a:xfrm>
            <a:off x="4683760" y="2072640"/>
            <a:ext cx="42173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Runs the pipeline, then summarises the plan for you.</a:t>
            </a:r>
            <a:endParaRPr lang="en-US" sz="1200" dirty="0"/>
          </a:p>
        </p:txBody>
      </p:sp>
      <p:sp>
        <p:nvSpPr>
          <p:cNvPr id="11" name="Shape 8"/>
          <p:cNvSpPr/>
          <p:nvPr/>
        </p:nvSpPr>
        <p:spPr>
          <a:xfrm>
            <a:off x="4683760" y="2547620"/>
            <a:ext cx="4094480" cy="248920"/>
          </a:xfrm>
          <a:prstGeom prst="roundRect">
            <a:avLst>
              <a:gd name="adj" fmla="val 20408"/>
            </a:avLst>
          </a:prstGeom>
          <a:solidFill>
            <a:srgbClr val="ECEEFA"/>
          </a:solidFill>
          <a:ln/>
        </p:spPr>
        <p:txBody>
          <a:bodyPr/>
          <a:lstStyle/>
          <a:p>
            <a:endParaRPr lang="en-GB"/>
          </a:p>
        </p:txBody>
      </p:sp>
      <p:sp>
        <p:nvSpPr>
          <p:cNvPr id="12" name="Text 9"/>
          <p:cNvSpPr/>
          <p:nvPr/>
        </p:nvSpPr>
        <p:spPr>
          <a:xfrm>
            <a:off x="4734560" y="2573020"/>
            <a:ext cx="41126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npm run topic -- "&lt;title&gt;"</a:t>
            </a:r>
            <a:endParaRPr lang="en-US" sz="1200" dirty="0"/>
          </a:p>
        </p:txBody>
      </p:sp>
      <p:pic>
        <p:nvPicPr>
          <p:cNvPr id="13" name="Image 1" descr="connector"/>
          <p:cNvPicPr>
            <a:picLocks noChangeAspect="1"/>
          </p:cNvPicPr>
          <p:nvPr/>
        </p:nvPicPr>
        <p:blipFill>
          <a:blip r:embed="rId3"/>
          <a:srcRect/>
          <a:stretch/>
        </p:blipFill>
        <p:spPr>
          <a:xfrm>
            <a:off x="9017000" y="2251710"/>
            <a:ext cx="254000" cy="101600"/>
          </a:xfrm>
          <a:prstGeom prst="rect">
            <a:avLst/>
          </a:prstGeom>
        </p:spPr>
      </p:pic>
      <p:sp>
        <p:nvSpPr>
          <p:cNvPr id="14" name="Shape 10"/>
          <p:cNvSpPr/>
          <p:nvPr/>
        </p:nvSpPr>
        <p:spPr>
          <a:xfrm>
            <a:off x="9356725" y="1680845"/>
            <a:ext cx="2012950" cy="1243330"/>
          </a:xfrm>
          <a:prstGeom prst="roundRect">
            <a:avLst>
              <a:gd name="adj" fmla="val 7406"/>
            </a:avLst>
          </a:prstGeom>
          <a:solidFill>
            <a:srgbClr val="FCEFD9"/>
          </a:solidFill>
          <a:ln w="19050">
            <a:solidFill>
              <a:srgbClr val="D08A2E"/>
            </a:solidFill>
            <a:prstDash val="solid"/>
          </a:ln>
        </p:spPr>
        <p:txBody>
          <a:bodyPr/>
          <a:lstStyle/>
          <a:p>
            <a:endParaRPr lang="en-GB"/>
          </a:p>
        </p:txBody>
      </p:sp>
      <p:pic>
        <p:nvPicPr>
          <p:cNvPr id="15" name="Image 2" descr="Users"/>
          <p:cNvPicPr>
            <a:picLocks noChangeAspect="1"/>
          </p:cNvPicPr>
          <p:nvPr/>
        </p:nvPicPr>
        <p:blipFill>
          <a:blip r:embed="rId4"/>
          <a:srcRect/>
          <a:stretch/>
        </p:blipFill>
        <p:spPr>
          <a:xfrm>
            <a:off x="9514840" y="1818640"/>
            <a:ext cx="203200" cy="203200"/>
          </a:xfrm>
          <a:prstGeom prst="rect">
            <a:avLst/>
          </a:prstGeom>
        </p:spPr>
      </p:pic>
      <p:sp>
        <p:nvSpPr>
          <p:cNvPr id="16" name="Text 11"/>
          <p:cNvSpPr/>
          <p:nvPr/>
        </p:nvSpPr>
        <p:spPr>
          <a:xfrm>
            <a:off x="9781540" y="1813560"/>
            <a:ext cx="5973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1</a:t>
            </a:r>
            <a:endParaRPr lang="en-US" sz="1200" dirty="0"/>
          </a:p>
        </p:txBody>
      </p:sp>
      <p:sp>
        <p:nvSpPr>
          <p:cNvPr id="17" name="Text 12"/>
          <p:cNvSpPr/>
          <p:nvPr/>
        </p:nvSpPr>
        <p:spPr>
          <a:xfrm>
            <a:off x="9514840" y="2077720"/>
            <a:ext cx="1747622"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Plan shown</a:t>
            </a:r>
            <a:endParaRPr lang="en-US" sz="1800" dirty="0"/>
          </a:p>
        </p:txBody>
      </p:sp>
      <p:sp>
        <p:nvSpPr>
          <p:cNvPr id="18" name="Text 13"/>
          <p:cNvSpPr/>
          <p:nvPr/>
        </p:nvSpPr>
        <p:spPr>
          <a:xfrm>
            <a:off x="9514840" y="2379980"/>
            <a:ext cx="174762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change it or say go on.</a:t>
            </a:r>
            <a:endParaRPr lang="en-US" sz="1200" dirty="0"/>
          </a:p>
        </p:txBody>
      </p:sp>
      <p:sp>
        <p:nvSpPr>
          <p:cNvPr id="19" name="Shape 14"/>
          <p:cNvSpPr/>
          <p:nvPr/>
        </p:nvSpPr>
        <p:spPr>
          <a:xfrm>
            <a:off x="819150" y="3067050"/>
            <a:ext cx="3289300" cy="1287780"/>
          </a:xfrm>
          <a:prstGeom prst="roundRect">
            <a:avLst>
              <a:gd name="adj" fmla="val 7396"/>
            </a:avLst>
          </a:prstGeom>
          <a:solidFill>
            <a:srgbClr val="FDFCF9"/>
          </a:solidFill>
          <a:ln w="12700">
            <a:solidFill>
              <a:srgbClr val="DDDAD0"/>
            </a:solidFill>
            <a:prstDash val="solid"/>
          </a:ln>
        </p:spPr>
        <p:txBody>
          <a:bodyPr/>
          <a:lstStyle/>
          <a:p>
            <a:endParaRPr lang="en-GB"/>
          </a:p>
        </p:txBody>
      </p:sp>
      <p:sp>
        <p:nvSpPr>
          <p:cNvPr id="20" name="Text 15"/>
          <p:cNvSpPr/>
          <p:nvPr/>
        </p:nvSpPr>
        <p:spPr>
          <a:xfrm>
            <a:off x="975360" y="3197860"/>
            <a:ext cx="30661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YOU</a:t>
            </a:r>
            <a:endParaRPr lang="en-US" sz="1200" dirty="0"/>
          </a:p>
        </p:txBody>
      </p:sp>
      <p:sp>
        <p:nvSpPr>
          <p:cNvPr id="21" name="Text 16"/>
          <p:cNvSpPr/>
          <p:nvPr/>
        </p:nvSpPr>
        <p:spPr>
          <a:xfrm>
            <a:off x="975360" y="3462020"/>
            <a:ext cx="3066186" cy="265430"/>
          </a:xfrm>
          <a:prstGeom prst="rect">
            <a:avLst/>
          </a:prstGeom>
          <a:noFill/>
          <a:ln/>
        </p:spPr>
        <p:txBody>
          <a:bodyPr wrap="square" lIns="0" tIns="0" rIns="0" bIns="0" rtlCol="0" anchor="t">
            <a:normAutofit/>
          </a:bodyPr>
          <a:lstStyle/>
          <a:p>
            <a:pPr marL="0" indent="0" algn="l">
              <a:lnSpc>
                <a:spcPts val="1890"/>
              </a:lnSpc>
              <a:buNone/>
            </a:pPr>
            <a:r>
              <a:rPr lang="en-US" sz="1400" i="1" dirty="0">
                <a:solidFill>
                  <a:srgbClr val="1B2233"/>
                </a:solidFill>
                <a:latin typeface="IBM Plex Sans" pitchFamily="34" charset="0"/>
                <a:ea typeface="IBM Plex Sans" pitchFamily="34" charset="-122"/>
                <a:cs typeface="IBM Plex Sans" pitchFamily="34" charset="-120"/>
              </a:rPr>
              <a:t>“Swap question 2.2, then go on.”</a:t>
            </a:r>
            <a:endParaRPr lang="en-US" sz="1400" dirty="0"/>
          </a:p>
        </p:txBody>
      </p:sp>
      <p:pic>
        <p:nvPicPr>
          <p:cNvPr id="22" name="Image 3" descr="connector"/>
          <p:cNvPicPr>
            <a:picLocks noChangeAspect="1"/>
          </p:cNvPicPr>
          <p:nvPr/>
        </p:nvPicPr>
        <p:blipFill>
          <a:blip r:embed="rId3"/>
          <a:srcRect/>
          <a:stretch/>
        </p:blipFill>
        <p:spPr>
          <a:xfrm>
            <a:off x="4191000" y="3660140"/>
            <a:ext cx="254000" cy="101600"/>
          </a:xfrm>
          <a:prstGeom prst="rect">
            <a:avLst/>
          </a:prstGeom>
        </p:spPr>
      </p:pic>
      <p:sp>
        <p:nvSpPr>
          <p:cNvPr id="23" name="Shape 17"/>
          <p:cNvSpPr/>
          <p:nvPr/>
        </p:nvSpPr>
        <p:spPr>
          <a:xfrm>
            <a:off x="4527550" y="3067050"/>
            <a:ext cx="4406900" cy="1287780"/>
          </a:xfrm>
          <a:prstGeom prst="roundRect">
            <a:avLst>
              <a:gd name="adj" fmla="val 7396"/>
            </a:avLst>
          </a:prstGeom>
          <a:solidFill>
            <a:srgbClr val="FDFCF9"/>
          </a:solidFill>
          <a:ln w="12700">
            <a:solidFill>
              <a:srgbClr val="DDDAD0"/>
            </a:solidFill>
            <a:prstDash val="solid"/>
          </a:ln>
        </p:spPr>
        <p:txBody>
          <a:bodyPr/>
          <a:lstStyle/>
          <a:p>
            <a:endParaRPr lang="en-GB"/>
          </a:p>
        </p:txBody>
      </p:sp>
      <p:sp>
        <p:nvSpPr>
          <p:cNvPr id="24" name="Text 18"/>
          <p:cNvSpPr/>
          <p:nvPr/>
        </p:nvSpPr>
        <p:spPr>
          <a:xfrm>
            <a:off x="4683760" y="3197860"/>
            <a:ext cx="42173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CLAUDE</a:t>
            </a:r>
            <a:endParaRPr lang="en-US" sz="1200" dirty="0"/>
          </a:p>
        </p:txBody>
      </p:sp>
      <p:sp>
        <p:nvSpPr>
          <p:cNvPr id="25" name="Text 19"/>
          <p:cNvSpPr/>
          <p:nvPr/>
        </p:nvSpPr>
        <p:spPr>
          <a:xfrm>
            <a:off x="4683760" y="3462020"/>
            <a:ext cx="42173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Edits the plan, runs answers and quiz, reads them and flags doubts.</a:t>
            </a:r>
            <a:endParaRPr lang="en-US" sz="1200" dirty="0"/>
          </a:p>
        </p:txBody>
      </p:sp>
      <p:sp>
        <p:nvSpPr>
          <p:cNvPr id="26" name="Shape 20"/>
          <p:cNvSpPr/>
          <p:nvPr/>
        </p:nvSpPr>
        <p:spPr>
          <a:xfrm>
            <a:off x="4683760" y="3975100"/>
            <a:ext cx="4094480" cy="248920"/>
          </a:xfrm>
          <a:prstGeom prst="roundRect">
            <a:avLst>
              <a:gd name="adj" fmla="val 20408"/>
            </a:avLst>
          </a:prstGeom>
          <a:solidFill>
            <a:srgbClr val="ECEEFA"/>
          </a:solidFill>
          <a:ln/>
        </p:spPr>
        <p:txBody>
          <a:bodyPr/>
          <a:lstStyle/>
          <a:p>
            <a:endParaRPr lang="en-GB"/>
          </a:p>
        </p:txBody>
      </p:sp>
      <p:sp>
        <p:nvSpPr>
          <p:cNvPr id="27" name="Text 21"/>
          <p:cNvSpPr/>
          <p:nvPr/>
        </p:nvSpPr>
        <p:spPr>
          <a:xfrm>
            <a:off x="4734560" y="4000500"/>
            <a:ext cx="41126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--approve plan</a:t>
            </a:r>
            <a:endParaRPr lang="en-US" sz="1200" dirty="0"/>
          </a:p>
        </p:txBody>
      </p:sp>
      <p:pic>
        <p:nvPicPr>
          <p:cNvPr id="28" name="Image 4" descr="connector"/>
          <p:cNvPicPr>
            <a:picLocks noChangeAspect="1"/>
          </p:cNvPicPr>
          <p:nvPr/>
        </p:nvPicPr>
        <p:blipFill>
          <a:blip r:embed="rId3"/>
          <a:srcRect/>
          <a:stretch/>
        </p:blipFill>
        <p:spPr>
          <a:xfrm>
            <a:off x="9017000" y="3660140"/>
            <a:ext cx="254000" cy="101600"/>
          </a:xfrm>
          <a:prstGeom prst="rect">
            <a:avLst/>
          </a:prstGeom>
        </p:spPr>
      </p:pic>
      <p:sp>
        <p:nvSpPr>
          <p:cNvPr id="29" name="Shape 22"/>
          <p:cNvSpPr/>
          <p:nvPr/>
        </p:nvSpPr>
        <p:spPr>
          <a:xfrm>
            <a:off x="9356725" y="3070225"/>
            <a:ext cx="2012950" cy="1281430"/>
          </a:xfrm>
          <a:prstGeom prst="roundRect">
            <a:avLst>
              <a:gd name="adj" fmla="val 7185"/>
            </a:avLst>
          </a:prstGeom>
          <a:solidFill>
            <a:srgbClr val="FCEFD9"/>
          </a:solidFill>
          <a:ln w="19050">
            <a:solidFill>
              <a:srgbClr val="D08A2E"/>
            </a:solidFill>
            <a:prstDash val="solid"/>
          </a:ln>
        </p:spPr>
        <p:txBody>
          <a:bodyPr/>
          <a:lstStyle/>
          <a:p>
            <a:endParaRPr lang="en-GB"/>
          </a:p>
        </p:txBody>
      </p:sp>
      <p:pic>
        <p:nvPicPr>
          <p:cNvPr id="30" name="Image 5" descr="Users"/>
          <p:cNvPicPr>
            <a:picLocks noChangeAspect="1"/>
          </p:cNvPicPr>
          <p:nvPr/>
        </p:nvPicPr>
        <p:blipFill>
          <a:blip r:embed="rId4"/>
          <a:srcRect/>
          <a:stretch/>
        </p:blipFill>
        <p:spPr>
          <a:xfrm>
            <a:off x="9514840" y="3208020"/>
            <a:ext cx="203200" cy="203200"/>
          </a:xfrm>
          <a:prstGeom prst="rect">
            <a:avLst/>
          </a:prstGeom>
        </p:spPr>
      </p:pic>
      <p:sp>
        <p:nvSpPr>
          <p:cNvPr id="31" name="Text 23"/>
          <p:cNvSpPr/>
          <p:nvPr/>
        </p:nvSpPr>
        <p:spPr>
          <a:xfrm>
            <a:off x="9781540" y="3202940"/>
            <a:ext cx="5973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2</a:t>
            </a:r>
            <a:endParaRPr lang="en-US" sz="1200" dirty="0"/>
          </a:p>
        </p:txBody>
      </p:sp>
      <p:sp>
        <p:nvSpPr>
          <p:cNvPr id="32" name="Text 24"/>
          <p:cNvSpPr/>
          <p:nvPr/>
        </p:nvSpPr>
        <p:spPr>
          <a:xfrm>
            <a:off x="9514840" y="3467100"/>
            <a:ext cx="1747622"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Deck shown</a:t>
            </a:r>
            <a:endParaRPr lang="en-US" sz="1800" dirty="0"/>
          </a:p>
        </p:txBody>
      </p:sp>
      <p:sp>
        <p:nvSpPr>
          <p:cNvPr id="33" name="Text 25"/>
          <p:cNvSpPr/>
          <p:nvPr/>
        </p:nvSpPr>
        <p:spPr>
          <a:xfrm>
            <a:off x="9514840" y="3769360"/>
            <a:ext cx="174762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decide whether it ships.</a:t>
            </a:r>
            <a:endParaRPr lang="en-US" sz="1200" dirty="0"/>
          </a:p>
        </p:txBody>
      </p:sp>
      <p:sp>
        <p:nvSpPr>
          <p:cNvPr id="34" name="Shape 26"/>
          <p:cNvSpPr/>
          <p:nvPr/>
        </p:nvSpPr>
        <p:spPr>
          <a:xfrm>
            <a:off x="819150" y="4494530"/>
            <a:ext cx="3289300" cy="1239520"/>
          </a:xfrm>
          <a:prstGeom prst="roundRect">
            <a:avLst>
              <a:gd name="adj" fmla="val 7684"/>
            </a:avLst>
          </a:prstGeom>
          <a:solidFill>
            <a:srgbClr val="FDFCF9"/>
          </a:solidFill>
          <a:ln w="12700">
            <a:solidFill>
              <a:srgbClr val="DDDAD0"/>
            </a:solidFill>
            <a:prstDash val="solid"/>
          </a:ln>
        </p:spPr>
        <p:txBody>
          <a:bodyPr/>
          <a:lstStyle/>
          <a:p>
            <a:endParaRPr lang="en-GB"/>
          </a:p>
        </p:txBody>
      </p:sp>
      <p:sp>
        <p:nvSpPr>
          <p:cNvPr id="35" name="Text 27"/>
          <p:cNvSpPr/>
          <p:nvPr/>
        </p:nvSpPr>
        <p:spPr>
          <a:xfrm>
            <a:off x="975360" y="4625340"/>
            <a:ext cx="30661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YOU</a:t>
            </a:r>
            <a:endParaRPr lang="en-US" sz="1200" dirty="0"/>
          </a:p>
        </p:txBody>
      </p:sp>
      <p:sp>
        <p:nvSpPr>
          <p:cNvPr id="36" name="Text 28"/>
          <p:cNvSpPr/>
          <p:nvPr/>
        </p:nvSpPr>
        <p:spPr>
          <a:xfrm>
            <a:off x="975360" y="4889500"/>
            <a:ext cx="3066186" cy="265430"/>
          </a:xfrm>
          <a:prstGeom prst="rect">
            <a:avLst/>
          </a:prstGeom>
          <a:noFill/>
          <a:ln/>
        </p:spPr>
        <p:txBody>
          <a:bodyPr wrap="square" lIns="0" tIns="0" rIns="0" bIns="0" rtlCol="0" anchor="t">
            <a:normAutofit/>
          </a:bodyPr>
          <a:lstStyle/>
          <a:p>
            <a:pPr marL="0" indent="0" algn="l">
              <a:lnSpc>
                <a:spcPts val="1890"/>
              </a:lnSpc>
              <a:buNone/>
            </a:pPr>
            <a:r>
              <a:rPr lang="en-US" sz="1400" i="1" dirty="0">
                <a:solidFill>
                  <a:srgbClr val="1B2233"/>
                </a:solidFill>
                <a:latin typeface="IBM Plex Sans" pitchFamily="34" charset="0"/>
                <a:ea typeface="IBM Plex Sans" pitchFamily="34" charset="-122"/>
                <a:cs typeface="IBM Plex Sans" pitchFamily="34" charset="-120"/>
              </a:rPr>
              <a:t>“Publish it.”</a:t>
            </a:r>
            <a:endParaRPr lang="en-US" sz="1400" dirty="0"/>
          </a:p>
        </p:txBody>
      </p:sp>
      <p:pic>
        <p:nvPicPr>
          <p:cNvPr id="37" name="Image 6" descr="connector"/>
          <p:cNvPicPr>
            <a:picLocks noChangeAspect="1"/>
          </p:cNvPicPr>
          <p:nvPr/>
        </p:nvPicPr>
        <p:blipFill>
          <a:blip r:embed="rId3"/>
          <a:srcRect/>
          <a:stretch/>
        </p:blipFill>
        <p:spPr>
          <a:xfrm>
            <a:off x="4191000" y="5063490"/>
            <a:ext cx="254000" cy="101600"/>
          </a:xfrm>
          <a:prstGeom prst="rect">
            <a:avLst/>
          </a:prstGeom>
        </p:spPr>
      </p:pic>
      <p:sp>
        <p:nvSpPr>
          <p:cNvPr id="38" name="Shape 29"/>
          <p:cNvSpPr/>
          <p:nvPr/>
        </p:nvSpPr>
        <p:spPr>
          <a:xfrm>
            <a:off x="4527550" y="4494530"/>
            <a:ext cx="4406900" cy="1239520"/>
          </a:xfrm>
          <a:prstGeom prst="roundRect">
            <a:avLst>
              <a:gd name="adj" fmla="val 7684"/>
            </a:avLst>
          </a:prstGeom>
          <a:solidFill>
            <a:srgbClr val="FDFCF9"/>
          </a:solidFill>
          <a:ln w="12700">
            <a:solidFill>
              <a:srgbClr val="DDDAD0"/>
            </a:solidFill>
            <a:prstDash val="solid"/>
          </a:ln>
        </p:spPr>
        <p:txBody>
          <a:bodyPr/>
          <a:lstStyle/>
          <a:p>
            <a:endParaRPr lang="en-GB"/>
          </a:p>
        </p:txBody>
      </p:sp>
      <p:sp>
        <p:nvSpPr>
          <p:cNvPr id="39" name="Text 30"/>
          <p:cNvSpPr/>
          <p:nvPr/>
        </p:nvSpPr>
        <p:spPr>
          <a:xfrm>
            <a:off x="4683760" y="4625340"/>
            <a:ext cx="42173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CLAUDE</a:t>
            </a:r>
            <a:endParaRPr lang="en-US" sz="1200" dirty="0"/>
          </a:p>
        </p:txBody>
      </p:sp>
      <p:sp>
        <p:nvSpPr>
          <p:cNvPr id="40" name="Text 31"/>
          <p:cNvSpPr/>
          <p:nvPr/>
        </p:nvSpPr>
        <p:spPr>
          <a:xfrm>
            <a:off x="4683760" y="4889500"/>
            <a:ext cx="42173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Only now approves publishing: commit, push, deploy.</a:t>
            </a:r>
            <a:endParaRPr lang="en-US" sz="1200" dirty="0"/>
          </a:p>
        </p:txBody>
      </p:sp>
      <p:sp>
        <p:nvSpPr>
          <p:cNvPr id="41" name="Shape 32"/>
          <p:cNvSpPr/>
          <p:nvPr/>
        </p:nvSpPr>
        <p:spPr>
          <a:xfrm>
            <a:off x="4683760" y="5354320"/>
            <a:ext cx="4094480" cy="248920"/>
          </a:xfrm>
          <a:prstGeom prst="roundRect">
            <a:avLst>
              <a:gd name="adj" fmla="val 20408"/>
            </a:avLst>
          </a:prstGeom>
          <a:solidFill>
            <a:srgbClr val="ECEEFA"/>
          </a:solidFill>
          <a:ln/>
        </p:spPr>
        <p:txBody>
          <a:bodyPr/>
          <a:lstStyle/>
          <a:p>
            <a:endParaRPr lang="en-GB"/>
          </a:p>
        </p:txBody>
      </p:sp>
      <p:sp>
        <p:nvSpPr>
          <p:cNvPr id="42" name="Text 33"/>
          <p:cNvSpPr/>
          <p:nvPr/>
        </p:nvSpPr>
        <p:spPr>
          <a:xfrm>
            <a:off x="4734560" y="5379720"/>
            <a:ext cx="41126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--approve publish</a:t>
            </a:r>
            <a:endParaRPr lang="en-US" sz="1200" dirty="0"/>
          </a:p>
        </p:txBody>
      </p:sp>
      <p:pic>
        <p:nvPicPr>
          <p:cNvPr id="43" name="Image 7" descr="connector"/>
          <p:cNvPicPr>
            <a:picLocks noChangeAspect="1"/>
          </p:cNvPicPr>
          <p:nvPr/>
        </p:nvPicPr>
        <p:blipFill>
          <a:blip r:embed="rId3"/>
          <a:srcRect/>
          <a:stretch/>
        </p:blipFill>
        <p:spPr>
          <a:xfrm>
            <a:off x="9017000" y="5063490"/>
            <a:ext cx="254000" cy="101600"/>
          </a:xfrm>
          <a:prstGeom prst="rect">
            <a:avLst/>
          </a:prstGeom>
        </p:spPr>
      </p:pic>
      <p:sp>
        <p:nvSpPr>
          <p:cNvPr id="44" name="Shape 34"/>
          <p:cNvSpPr/>
          <p:nvPr/>
        </p:nvSpPr>
        <p:spPr>
          <a:xfrm>
            <a:off x="9353550" y="4494530"/>
            <a:ext cx="2019300" cy="1239520"/>
          </a:xfrm>
          <a:prstGeom prst="roundRect">
            <a:avLst>
              <a:gd name="adj" fmla="val 7684"/>
            </a:avLst>
          </a:prstGeom>
          <a:solidFill>
            <a:srgbClr val="1B2233"/>
          </a:solidFill>
          <a:ln w="12700">
            <a:solidFill>
              <a:srgbClr val="1B2233"/>
            </a:solidFill>
            <a:prstDash val="solid"/>
          </a:ln>
        </p:spPr>
        <p:txBody>
          <a:bodyPr/>
          <a:lstStyle/>
          <a:p>
            <a:endParaRPr lang="en-GB"/>
          </a:p>
        </p:txBody>
      </p:sp>
      <p:sp>
        <p:nvSpPr>
          <p:cNvPr id="45" name="Text 35"/>
          <p:cNvSpPr/>
          <p:nvPr/>
        </p:nvSpPr>
        <p:spPr>
          <a:xfrm>
            <a:off x="9509760" y="4625340"/>
            <a:ext cx="17580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AEB4F5"/>
                </a:solidFill>
                <a:latin typeface="IBM Plex Sans" pitchFamily="34" charset="0"/>
                <a:ea typeface="IBM Plex Sans" pitchFamily="34" charset="-122"/>
                <a:cs typeface="IBM Plex Sans" pitchFamily="34" charset="-120"/>
              </a:rPr>
              <a:t>RESULT</a:t>
            </a:r>
            <a:endParaRPr lang="en-US" sz="1200" dirty="0"/>
          </a:p>
        </p:txBody>
      </p:sp>
      <p:sp>
        <p:nvSpPr>
          <p:cNvPr id="46" name="Text 36"/>
          <p:cNvSpPr/>
          <p:nvPr/>
        </p:nvSpPr>
        <p:spPr>
          <a:xfrm>
            <a:off x="9509760" y="4889500"/>
            <a:ext cx="1758086"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F6F5F0"/>
                </a:solidFill>
                <a:latin typeface="IBM Plex Sans" pitchFamily="34" charset="0"/>
                <a:ea typeface="IBM Plex Sans" pitchFamily="34" charset="-122"/>
                <a:cs typeface="IBM Plex Sans" pitchFamily="34" charset="-120"/>
              </a:rPr>
              <a:t>Live</a:t>
            </a:r>
            <a:endParaRPr lang="en-US" sz="1800" dirty="0"/>
          </a:p>
        </p:txBody>
      </p:sp>
      <p:sp>
        <p:nvSpPr>
          <p:cNvPr id="47" name="Text 37"/>
          <p:cNvSpPr/>
          <p:nvPr/>
        </p:nvSpPr>
        <p:spPr>
          <a:xfrm>
            <a:off x="9509760" y="5191760"/>
            <a:ext cx="175808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CEDA"/>
                </a:solidFill>
                <a:latin typeface="IBM Plex Sans" pitchFamily="34" charset="0"/>
                <a:ea typeface="IBM Plex Sans" pitchFamily="34" charset="-122"/>
                <a:cs typeface="IBM Plex Sans" pitchFamily="34" charset="-120"/>
              </a:rPr>
              <a:t>Cloudflare Pages, behind a login.</a:t>
            </a:r>
            <a:endParaRPr lang="en-US" sz="1200" dirty="0"/>
          </a:p>
        </p:txBody>
      </p:sp>
      <p:sp>
        <p:nvSpPr>
          <p:cNvPr id="48" name="Text 38"/>
          <p:cNvSpPr/>
          <p:nvPr/>
        </p:nvSpPr>
        <p:spPr>
          <a:xfrm>
            <a:off x="812800" y="6024880"/>
            <a:ext cx="10883392"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475"/>
                </a:solidFill>
                <a:latin typeface="IBM Plex Sans" pitchFamily="34" charset="0"/>
                <a:ea typeface="IBM Plex Sans" pitchFamily="34" charset="-122"/>
                <a:cs typeface="IBM Plex Sans" pitchFamily="34" charset="-120"/>
              </a:rPr>
              <a:t>Content still comes from EPAM DIAL.</a:t>
            </a:r>
            <a:r>
              <a:rPr lang="en-US" sz="1200" dirty="0">
                <a:solidFill>
                  <a:srgbClr val="5E6475"/>
                </a:solidFill>
                <a:latin typeface="IBM Plex Sans" pitchFamily="34" charset="0"/>
                <a:ea typeface="IBM Plex Sans" pitchFamily="34" charset="-122"/>
                <a:cs typeface="IBM Plex Sans" pitchFamily="34" charset="-120"/>
              </a:rPr>
              <a:t> Claude only drives the pipeline and relays the stops.</a:t>
            </a:r>
            <a:endParaRPr lang="en-US" sz="1200" dirty="0"/>
          </a:p>
          <a:p>
            <a:pPr marL="0" indent="0" algn="l">
              <a:lnSpc>
                <a:spcPts val="1680"/>
              </a:lnSpc>
              <a:buNone/>
            </a:pPr>
            <a:r>
              <a:rPr lang="en-US" sz="1200" b="1" dirty="0">
                <a:solidFill>
                  <a:srgbClr val="5E6475"/>
                </a:solidFill>
                <a:latin typeface="IBM Plex Sans" pitchFamily="34" charset="0"/>
                <a:ea typeface="IBM Plex Sans" pitchFamily="34" charset="-122"/>
                <a:cs typeface="IBM Plex Sans" pitchFamily="34" charset="-120"/>
              </a:rPr>
              <a:t>Rule in the skill:</a:t>
            </a:r>
            <a:r>
              <a:rPr lang="en-US" sz="1200" dirty="0">
                <a:solidFill>
                  <a:srgbClr val="5E6475"/>
                </a:solidFill>
                <a:latin typeface="IBM Plex Sans" pitchFamily="34" charset="0"/>
                <a:ea typeface="IBM Plex Sans" pitchFamily="34" charset="-122"/>
                <a:cs typeface="IBM Plex Sans" pitchFamily="34" charset="-120"/>
              </a:rPr>
              <a:t> Claude never approves a stop you have not approved in the conversation.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1077</Words>
  <Application>Microsoft Office PowerPoint</Application>
  <PresentationFormat>Panoramiczny</PresentationFormat>
  <Paragraphs>102</Paragraphs>
  <Slides>3</Slides>
  <Notes>3</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3</vt:i4>
      </vt:variant>
    </vt:vector>
  </HeadingPairs>
  <TitlesOfParts>
    <vt:vector size="8" baseType="lpstr">
      <vt:lpstr>Arial</vt:lpstr>
      <vt:lpstr>Calibri</vt:lpstr>
      <vt:lpstr>IBM Plex Sans</vt:lpstr>
      <vt:lpstr>JetBrains Mono</vt:lpstr>
      <vt:lpstr>Office Theme</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Łukasz Kwaśniewski</cp:lastModifiedBy>
  <cp:revision>4</cp:revision>
  <dcterms:created xsi:type="dcterms:W3CDTF">2026-04-23T17:39:49Z</dcterms:created>
  <dcterms:modified xsi:type="dcterms:W3CDTF">2026-09-17T18:05:17Z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535040-0af2-483f-adc3-a132c21e3e2b_Enabled">
    <vt:lpwstr>true</vt:lpwstr>
  </property>
  <property fmtid="{D5CDD505-2E9C-101B-9397-08002B2CF9AE}" pid="3" name="MSIP_Label_2a535040-0af2-483f-adc3-a132c21e3e2b_SetDate">
    <vt:lpwstr>2026-04-23T18:24:49Z</vt:lpwstr>
  </property>
  <property fmtid="{D5CDD505-2E9C-101B-9397-08002B2CF9AE}" pid="4" name="MSIP_Label_2a535040-0af2-483f-adc3-a132c21e3e2b_Method">
    <vt:lpwstr>Standard</vt:lpwstr>
  </property>
  <property fmtid="{D5CDD505-2E9C-101B-9397-08002B2CF9AE}" pid="5" name="MSIP_Label_2a535040-0af2-483f-adc3-a132c21e3e2b_Name">
    <vt:lpwstr>EPAM_Confidential</vt:lpwstr>
  </property>
  <property fmtid="{D5CDD505-2E9C-101B-9397-08002B2CF9AE}" pid="6" name="MSIP_Label_2a535040-0af2-483f-adc3-a132c21e3e2b_SiteId">
    <vt:lpwstr>b41b72d0-4e9f-4c26-8a69-f949f367c91d</vt:lpwstr>
  </property>
  <property fmtid="{D5CDD505-2E9C-101B-9397-08002B2CF9AE}" pid="7" name="MSIP_Label_2a535040-0af2-483f-adc3-a132c21e3e2b_ActionId">
    <vt:lpwstr>8989d48e-950a-4fe5-ab54-11814b72000a</vt:lpwstr>
  </property>
  <property fmtid="{D5CDD505-2E9C-101B-9397-08002B2CF9AE}" pid="8" name="MSIP_Label_2a535040-0af2-483f-adc3-a132c21e3e2b_ContentBits">
    <vt:lpwstr>0</vt:lpwstr>
  </property>
  <property fmtid="{D5CDD505-2E9C-101B-9397-08002B2CF9AE}" pid="9" name="MSIP_Label_2a535040-0af2-483f-adc3-a132c21e3e2b_Tag">
    <vt:lpwstr>10, 3, 0, 1</vt:lpwstr>
  </property>
</Properties>
</file>